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16" y="-7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9/ICCV48922.2021.01169" TargetMode="External"/><Relationship Id="rId3" Type="http://schemas.openxmlformats.org/officeDocument/2006/relationships/hyperlink" Target="https://doi.org/10.3390/rs15071840" TargetMode="External"/><Relationship Id="rId7" Type="http://schemas.openxmlformats.org/officeDocument/2006/relationships/hyperlink" Target="https://doi.org/10.1016/j.isprsjprs.2021.03.016" TargetMode="External"/><Relationship Id="rId12" Type="http://schemas.openxmlformats.org/officeDocument/2006/relationships/image" Target="../media/image1.png"/><Relationship Id="rId2" Type="http://schemas.openxmlformats.org/officeDocument/2006/relationships/hyperlink" Target="https://www.isprs.org/proceedings/xxxv/congress/comm2/papers/223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9/CVPR.2019.01063" TargetMode="External"/><Relationship Id="rId11" Type="http://schemas.openxmlformats.org/officeDocument/2006/relationships/hyperlink" Target="https://doi.org/10.1109/CVPR.2013.222" TargetMode="External"/><Relationship Id="rId5" Type="http://schemas.openxmlformats.org/officeDocument/2006/relationships/hyperlink" Target="https://doi.org/10.1109/WACV45572.2020.9093593" TargetMode="External"/><Relationship Id="rId10" Type="http://schemas.openxmlformats.org/officeDocument/2006/relationships/hyperlink" Target="https://arxiv.org/abs/1910.14388" TargetMode="External"/><Relationship Id="rId4" Type="http://schemas.openxmlformats.org/officeDocument/2006/relationships/hyperlink" Target="https://doi.org/10.3390/rs10091461" TargetMode="External"/><Relationship Id="rId9" Type="http://schemas.openxmlformats.org/officeDocument/2006/relationships/hyperlink" Target="https://arxiv.org/abs/2406.14941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03320" y="0"/>
            <a:ext cx="8488375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300" b="1">
                <a:solidFill>
                  <a:srgbClr val="B2CDE6"/>
                </a:solidFill>
                <a:latin typeface="Aptos"/>
              </a:defRPr>
            </a:pPr>
            <a:r>
              <a:rPr sz="1250" b="1" dirty="0">
                <a:solidFill>
                  <a:srgbClr val="FFFFFF"/>
                </a:solidFill>
                <a:latin typeface="Aptos"/>
              </a:rPr>
              <a:t>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51960" y="932688"/>
            <a:ext cx="7178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2000" b="1">
                <a:solidFill>
                  <a:srgbClr val="142B4C"/>
                </a:solidFill>
                <a:latin typeface="Aptos"/>
              </a:defRPr>
            </a:pPr>
            <a:r>
              <a:rPr sz="2500" b="1" dirty="0">
                <a:solidFill>
                  <a:srgbClr val="232326"/>
                </a:solidFill>
                <a:latin typeface="Aptos"/>
              </a:rPr>
              <a:t>Predictive Dynamic Route Recommendation Using Traffic Forecasting and Intelligent Route Decision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163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C5DEF1"/>
                </a:solidFill>
                <a:latin typeface="Aptos"/>
              </a:defRPr>
            </a:pPr>
            <a:r>
              <a:rPr sz="2200" b="1">
                <a:solidFill>
                  <a:srgbClr val="BE232D"/>
                </a:solidFill>
                <a:latin typeface="Aptos"/>
              </a:rPr>
              <a:t>REVIEW –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75887"/>
            <a:ext cx="2743200" cy="296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B2CDE6"/>
                </a:solidFill>
                <a:latin typeface="Aptos"/>
              </a:defRPr>
            </a:pPr>
            <a:r>
              <a:rPr sz="1300" b="1" dirty="0">
                <a:solidFill>
                  <a:srgbClr val="FFFFFF"/>
                </a:solidFill>
                <a:latin typeface="Aptos"/>
              </a:rPr>
              <a:t>TEAM</a:t>
            </a:r>
            <a:r>
              <a:rPr lang="en-US" sz="1300" b="1" dirty="0">
                <a:solidFill>
                  <a:srgbClr val="FFFFFF"/>
                </a:solidFill>
                <a:latin typeface="Aptos"/>
              </a:rPr>
              <a:t>:</a:t>
            </a:r>
            <a:endParaRPr sz="13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4005072"/>
            <a:ext cx="2743200" cy="8361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sz="1550" b="1" dirty="0">
                <a:solidFill>
                  <a:srgbClr val="FFFFFF"/>
                </a:solidFill>
                <a:latin typeface="Aptos"/>
              </a:rPr>
              <a:t>2300030761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lang="en-US" sz="1550" b="0" dirty="0">
                <a:solidFill>
                  <a:srgbClr val="FFFFFF"/>
                </a:solidFill>
                <a:latin typeface="Aptos"/>
              </a:rPr>
              <a:t>-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Pranav Y</a:t>
            </a:r>
            <a:br>
              <a:rPr dirty="0"/>
            </a:br>
            <a:r>
              <a:rPr sz="1550" b="1" dirty="0">
                <a:solidFill>
                  <a:srgbClr val="FFFFFF"/>
                </a:solidFill>
                <a:latin typeface="Aptos"/>
              </a:rPr>
              <a:t>2300031235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lang="en-US" sz="1550" dirty="0">
                <a:solidFill>
                  <a:srgbClr val="FFFFFF"/>
                </a:solidFill>
                <a:latin typeface="Aptos"/>
              </a:rPr>
              <a:t>-</a:t>
            </a:r>
            <a:r>
              <a:rPr lang="en-IN"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K Prasanth</a:t>
            </a:r>
            <a:br>
              <a:rPr dirty="0"/>
            </a:br>
            <a:r>
              <a:rPr sz="1550" b="1" dirty="0">
                <a:solidFill>
                  <a:srgbClr val="FFFFFF"/>
                </a:solidFill>
                <a:latin typeface="Aptos"/>
              </a:rPr>
              <a:t>2300032492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</a:t>
            </a:r>
            <a:r>
              <a:rPr lang="en-US" sz="1550" b="0" dirty="0">
                <a:solidFill>
                  <a:srgbClr val="FFFFFF"/>
                </a:solidFill>
                <a:latin typeface="Aptos"/>
              </a:rPr>
              <a:t>-</a:t>
            </a:r>
            <a:r>
              <a:rPr sz="1550" b="0" dirty="0">
                <a:solidFill>
                  <a:srgbClr val="FFFFFF"/>
                </a:solidFill>
                <a:latin typeface="Aptos"/>
              </a:rPr>
              <a:t> M M N S Lalitha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03235"/>
            <a:ext cx="2743200" cy="9028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D2DCE8"/>
                </a:solidFill>
                <a:latin typeface="Aptos"/>
              </a:defRPr>
            </a:pPr>
            <a:r>
              <a:rPr sz="1600" b="1" dirty="0">
                <a:solidFill>
                  <a:srgbClr val="FFFFFF"/>
                </a:solidFill>
                <a:latin typeface="Aptos"/>
              </a:rPr>
              <a:t>Mentor:</a:t>
            </a:r>
            <a:r>
              <a:rPr lang="en-US" sz="1600" b="1" dirty="0">
                <a:solidFill>
                  <a:srgbClr val="FFFFFF"/>
                </a:solidFill>
                <a:latin typeface="Aptos"/>
              </a:rPr>
              <a:t> </a:t>
            </a:r>
          </a:p>
          <a:p>
            <a:pPr>
              <a:spcAft>
                <a:spcPts val="400"/>
              </a:spcAft>
              <a:defRPr sz="1000" b="0">
                <a:solidFill>
                  <a:srgbClr val="D2DCE8"/>
                </a:solidFill>
                <a:latin typeface="Aptos"/>
              </a:defRPr>
            </a:pPr>
            <a:r>
              <a:rPr sz="1600" b="1" dirty="0">
                <a:solidFill>
                  <a:srgbClr val="FFFFFF"/>
                </a:solidFill>
                <a:latin typeface="Aptos"/>
              </a:rPr>
              <a:t>Dr.</a:t>
            </a:r>
            <a:r>
              <a:rPr lang="en-US"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M.</a:t>
            </a:r>
            <a:r>
              <a:rPr lang="en-US"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Satyanarayana</a:t>
            </a:r>
          </a:p>
          <a:p>
            <a:r>
              <a:rPr sz="1400" dirty="0">
                <a:solidFill>
                  <a:srgbClr val="FFFFFF"/>
                </a:solidFill>
                <a:latin typeface="Aptos"/>
              </a:rPr>
              <a:t>Emp ID: 10072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58368"/>
            <a:ext cx="7223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500" b="1">
                <a:solidFill>
                  <a:srgbClr val="142B4C"/>
                </a:solidFill>
                <a:latin typeface="Aptos"/>
              </a:defRPr>
            </a:pPr>
            <a:r>
              <a:rPr sz="1700" b="1">
                <a:solidFill>
                  <a:srgbClr val="232326"/>
                </a:solidFill>
                <a:latin typeface="Aptos"/>
              </a:rPr>
              <a:t>Predict → Optimize → Decide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423160"/>
            <a:ext cx="1508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44568" y="2569464"/>
            <a:ext cx="438912" cy="438912"/>
          </a:xfrm>
          <a:prstGeom prst="ellipse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2633472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2532888"/>
            <a:ext cx="851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1">
                <a:solidFill>
                  <a:srgbClr val="142B4C"/>
                </a:solidFill>
                <a:latin typeface="Aptos"/>
              </a:defRPr>
            </a:pPr>
            <a:r>
              <a:rPr sz="1150" b="1">
                <a:solidFill>
                  <a:srgbClr val="232326"/>
                </a:solidFill>
                <a:latin typeface="Aptos"/>
              </a:rPr>
              <a:t>Forecast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2843784"/>
            <a:ext cx="73151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0">
                <a:solidFill>
                  <a:srgbClr val="222A34"/>
                </a:solidFill>
                <a:latin typeface="Aptos"/>
              </a:defRPr>
            </a:pPr>
            <a:r>
              <a:rPr sz="1050" b="0">
                <a:solidFill>
                  <a:srgbClr val="4B525A"/>
                </a:solidFill>
                <a:latin typeface="Aptos"/>
              </a:rPr>
              <a:t>STGCN</a:t>
            </a:r>
            <a:br/>
            <a:r>
              <a:rPr sz="1050" b="0">
                <a:solidFill>
                  <a:srgbClr val="4B525A"/>
                </a:solidFill>
                <a:latin typeface="Aptos"/>
              </a:rPr>
              <a:t>15–30 min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3090672"/>
            <a:ext cx="365759" cy="0"/>
          </a:xfrm>
          <a:prstGeom prst="line">
            <a:avLst/>
          </a:prstGeom>
          <a:ln w="25400">
            <a:solidFill>
              <a:srgbClr val="2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63640" y="2423160"/>
            <a:ext cx="1508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73368" y="2569464"/>
            <a:ext cx="438912" cy="438912"/>
          </a:xfrm>
          <a:prstGeom prst="ellipse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2633472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532888"/>
            <a:ext cx="851519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1">
                <a:solidFill>
                  <a:srgbClr val="142B4C"/>
                </a:solidFill>
                <a:latin typeface="Aptos"/>
              </a:defRPr>
            </a:pPr>
            <a:r>
              <a:rPr sz="1150" b="1" dirty="0">
                <a:solidFill>
                  <a:srgbClr val="232326"/>
                </a:solidFill>
                <a:latin typeface="Aptos"/>
              </a:rPr>
              <a:t>Time</a:t>
            </a:r>
            <a:endParaRPr lang="en-US" sz="1150" b="1" dirty="0">
              <a:solidFill>
                <a:srgbClr val="232326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50" b="1">
                <a:solidFill>
                  <a:srgbClr val="142B4C"/>
                </a:solidFill>
                <a:latin typeface="Aptos"/>
              </a:defRPr>
            </a:pPr>
            <a:endParaRPr lang="en-US" sz="1150" b="1" dirty="0">
              <a:solidFill>
                <a:srgbClr val="232326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50" b="1">
                <a:solidFill>
                  <a:srgbClr val="142B4C"/>
                </a:solidFill>
                <a:latin typeface="Aptos"/>
              </a:defRPr>
            </a:pPr>
            <a:endParaRPr lang="en-US" sz="1150" b="1" dirty="0">
              <a:solidFill>
                <a:srgbClr val="232326"/>
              </a:solidFill>
              <a:latin typeface="Aptos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  <a:defRPr sz="950" b="1">
                <a:solidFill>
                  <a:srgbClr val="142B4C"/>
                </a:solidFill>
                <a:latin typeface="Aptos"/>
              </a:defRPr>
            </a:pPr>
            <a:endParaRPr sz="1150" b="1" dirty="0">
              <a:solidFill>
                <a:srgbClr val="232326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22007" y="2843784"/>
            <a:ext cx="73151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0">
                <a:solidFill>
                  <a:srgbClr val="222A34"/>
                </a:solidFill>
                <a:latin typeface="Aptos"/>
              </a:defRPr>
            </a:pPr>
            <a:r>
              <a:rPr sz="1050" b="0" dirty="0">
                <a:solidFill>
                  <a:srgbClr val="4B525A"/>
                </a:solidFill>
                <a:latin typeface="Aptos"/>
              </a:rPr>
              <a:t>Speed →</a:t>
            </a:r>
            <a:br>
              <a:rPr dirty="0"/>
            </a:br>
            <a:r>
              <a:rPr sz="1050" b="0" dirty="0">
                <a:solidFill>
                  <a:srgbClr val="4B525A"/>
                </a:solidFill>
                <a:latin typeface="Aptos"/>
              </a:rPr>
              <a:t>segment cost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" y="3090672"/>
            <a:ext cx="365760" cy="0"/>
          </a:xfrm>
          <a:prstGeom prst="line">
            <a:avLst/>
          </a:prstGeom>
          <a:ln w="25400">
            <a:solidFill>
              <a:srgbClr val="2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92440" y="2423160"/>
            <a:ext cx="1508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02167" y="2569464"/>
            <a:ext cx="438912" cy="438912"/>
          </a:xfrm>
          <a:prstGeom prst="ellipse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7" y="2633472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808" y="2532888"/>
            <a:ext cx="851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1">
                <a:solidFill>
                  <a:srgbClr val="142B4C"/>
                </a:solidFill>
                <a:latin typeface="Aptos"/>
              </a:defRPr>
            </a:pPr>
            <a:r>
              <a:rPr sz="1150" b="1">
                <a:solidFill>
                  <a:srgbClr val="232326"/>
                </a:solidFill>
                <a:latin typeface="Aptos"/>
              </a:rPr>
              <a:t>A* 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808" y="2843784"/>
            <a:ext cx="73151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0">
                <a:solidFill>
                  <a:srgbClr val="222A34"/>
                </a:solidFill>
                <a:latin typeface="Aptos"/>
              </a:defRPr>
            </a:pPr>
            <a:r>
              <a:rPr sz="1050" b="0">
                <a:solidFill>
                  <a:srgbClr val="4B525A"/>
                </a:solidFill>
                <a:latin typeface="Aptos"/>
              </a:rPr>
              <a:t>Dynamic cost</a:t>
            </a:r>
            <a:br/>
            <a:r>
              <a:rPr sz="1050" b="0">
                <a:solidFill>
                  <a:srgbClr val="4B525A"/>
                </a:solidFill>
                <a:latin typeface="Aptos"/>
              </a:rPr>
              <a:t>→ candidates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01200" y="3090672"/>
            <a:ext cx="365760" cy="0"/>
          </a:xfrm>
          <a:prstGeom prst="line">
            <a:avLst/>
          </a:prstGeom>
          <a:ln w="25400">
            <a:solidFill>
              <a:srgbClr val="2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921240" y="2423160"/>
            <a:ext cx="1508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030967" y="2569464"/>
            <a:ext cx="438912" cy="438912"/>
          </a:xfrm>
          <a:prstGeom prst="ellipse">
            <a:avLst/>
          </a:prstGeom>
          <a:solidFill>
            <a:srgbClr val="2B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30967" y="2633472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9608" y="2532888"/>
            <a:ext cx="851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1">
                <a:solidFill>
                  <a:srgbClr val="142B4C"/>
                </a:solidFill>
                <a:latin typeface="Aptos"/>
              </a:defRPr>
            </a:pPr>
            <a:r>
              <a:rPr sz="1150" b="1">
                <a:solidFill>
                  <a:srgbClr val="232326"/>
                </a:solidFill>
                <a:latin typeface="Aptos"/>
              </a:rPr>
              <a:t>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79608" y="2843784"/>
            <a:ext cx="73151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0">
                <a:solidFill>
                  <a:srgbClr val="222A34"/>
                </a:solidFill>
                <a:latin typeface="Aptos"/>
              </a:defRPr>
            </a:pPr>
            <a:r>
              <a:rPr sz="1050" b="0">
                <a:solidFill>
                  <a:srgbClr val="4B525A"/>
                </a:solidFill>
                <a:latin typeface="Aptos"/>
              </a:rPr>
              <a:t>Benefit +</a:t>
            </a:r>
            <a:br/>
            <a:r>
              <a:rPr sz="1050" b="0">
                <a:solidFill>
                  <a:srgbClr val="4B525A"/>
                </a:solidFill>
                <a:latin typeface="Aptos"/>
              </a:rPr>
              <a:t>reliability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4233672"/>
            <a:ext cx="1508760" cy="347472"/>
          </a:xfrm>
          <a:prstGeom prst="round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34840" y="4251960"/>
            <a:ext cx="15087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00" b="1">
                <a:solidFill>
                  <a:srgbClr val="142B4C"/>
                </a:solidFill>
                <a:latin typeface="Aptos"/>
              </a:defRPr>
            </a:pPr>
            <a:r>
              <a:rPr sz="1050" b="1" dirty="0">
                <a:solidFill>
                  <a:srgbClr val="232326"/>
                </a:solidFill>
                <a:latin typeface="Aptos"/>
              </a:rPr>
              <a:t>METR-LA / public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233672"/>
            <a:ext cx="1508760" cy="347472"/>
          </a:xfrm>
          <a:prstGeom prst="round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42519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00" b="1">
                <a:solidFill>
                  <a:srgbClr val="142B4C"/>
                </a:solidFill>
                <a:latin typeface="Aptos"/>
              </a:defRPr>
            </a:pPr>
            <a:r>
              <a:rPr sz="1200" b="1" dirty="0">
                <a:solidFill>
                  <a:srgbClr val="232326"/>
                </a:solidFill>
                <a:latin typeface="Aptos"/>
              </a:rPr>
              <a:t>OpenStreetMap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4233672"/>
            <a:ext cx="1508760" cy="347472"/>
          </a:xfrm>
          <a:prstGeom prst="round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92440" y="4251960"/>
            <a:ext cx="1508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950" b="1">
                <a:solidFill>
                  <a:srgbClr val="142B4C"/>
                </a:solidFill>
                <a:latin typeface="Aptos"/>
              </a:defRPr>
            </a:pPr>
            <a:r>
              <a:rPr sz="1200" b="1" dirty="0">
                <a:solidFill>
                  <a:srgbClr val="232326"/>
                </a:solidFill>
                <a:latin typeface="Aptos"/>
              </a:rPr>
              <a:t>STGCN</a:t>
            </a:r>
            <a:r>
              <a:rPr lang="en-US" sz="1200" b="1" dirty="0">
                <a:solidFill>
                  <a:srgbClr val="232326"/>
                </a:solidFill>
                <a:latin typeface="Aptos"/>
              </a:rPr>
              <a:t> </a:t>
            </a:r>
            <a:r>
              <a:rPr sz="1200" b="1" dirty="0">
                <a:solidFill>
                  <a:srgbClr val="232326"/>
                </a:solidFill>
                <a:latin typeface="Aptos"/>
              </a:rPr>
              <a:t>15–30 min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21240" y="4233672"/>
            <a:ext cx="1508760" cy="347472"/>
          </a:xfrm>
          <a:prstGeom prst="round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21240" y="42519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00" b="1">
                <a:solidFill>
                  <a:srgbClr val="142B4C"/>
                </a:solidFill>
                <a:latin typeface="Aptos"/>
              </a:defRPr>
            </a:pPr>
            <a:r>
              <a:rPr sz="1200" b="1" dirty="0">
                <a:solidFill>
                  <a:srgbClr val="232326"/>
                </a:solidFill>
                <a:latin typeface="Aptos"/>
              </a:rPr>
              <a:t>A*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965192"/>
            <a:ext cx="7132320" cy="5220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0">
                <a:solidFill>
                  <a:srgbClr val="222A34"/>
                </a:solidFill>
                <a:latin typeface="Aptos"/>
              </a:defRPr>
            </a:pPr>
            <a:r>
              <a:rPr sz="1350" b="0" dirty="0">
                <a:solidFill>
                  <a:schemeClr val="tx2">
                    <a:lumMod val="50000"/>
                  </a:schemeClr>
                </a:solidFill>
                <a:latin typeface="Aptos"/>
              </a:rPr>
              <a:t>Review-1 scope: problem definition, proposed framework, literature basis, workflow, design, validation plan and expected outcomes.</a:t>
            </a:r>
          </a:p>
        </p:txBody>
      </p:sp>
      <p:pic>
        <p:nvPicPr>
          <p:cNvPr id="44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11430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4840" y="451399"/>
            <a:ext cx="9646920" cy="531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 dirty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3429000" cy="38953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45719" cy="388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271016"/>
            <a:ext cx="3154680" cy="4683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rgbClr val="232326"/>
                </a:solidFill>
                <a:latin typeface="Aptos"/>
              </a:rP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655064"/>
            <a:ext cx="3154680" cy="3143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222A34"/>
                </a:solidFill>
                <a:latin typeface="Aptos"/>
              </a:defRPr>
            </a:pPr>
            <a:endParaRPr lang="en-US" sz="1600" b="0" dirty="0">
              <a:solidFill>
                <a:srgbClr val="4B525A"/>
              </a:solidFill>
              <a:latin typeface="Aptos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222A34"/>
                </a:solidFill>
                <a:latin typeface="Aptos"/>
              </a:defRPr>
            </a:pPr>
            <a:r>
              <a:rPr sz="1900" b="0" dirty="0">
                <a:solidFill>
                  <a:srgbClr val="4B525A"/>
                </a:solidFill>
                <a:latin typeface="Aptos"/>
              </a:rPr>
              <a:t>Traffic conditions can change within minutes. A route that is efficient now may become slower shortly after. The project focuses on using near-future traffic predictions instead of relying only on the current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43000"/>
            <a:ext cx="3429000" cy="38953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 flipH="1">
            <a:off x="4343401" y="1143000"/>
            <a:ext cx="45719" cy="389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271016"/>
            <a:ext cx="3154680" cy="4683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rgbClr val="232326"/>
                </a:solidFill>
                <a:latin typeface="Aptos"/>
              </a:rPr>
              <a:t>Domain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8831" y="1618488"/>
            <a:ext cx="3154680" cy="3143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222A34"/>
                </a:solidFill>
                <a:latin typeface="Aptos"/>
              </a:defRPr>
            </a:pPr>
            <a:endParaRPr lang="en-US" sz="1600" b="0" dirty="0">
              <a:solidFill>
                <a:srgbClr val="4B525A"/>
              </a:solidFill>
              <a:latin typeface="Aptos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222A34"/>
                </a:solidFill>
                <a:latin typeface="Aptos"/>
              </a:defRPr>
            </a:pPr>
            <a:r>
              <a:rPr sz="1900" b="0" dirty="0">
                <a:solidFill>
                  <a:srgbClr val="4B525A"/>
                </a:solidFill>
                <a:latin typeface="Aptos"/>
              </a:rPr>
              <a:t>Intelligent transportation combines traffic data, prediction models, road-network representation and route optimization. This project connects those stages into one predictive route-recommendation framework.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43000"/>
            <a:ext cx="3429000" cy="3886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143000"/>
            <a:ext cx="45719" cy="388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271016"/>
            <a:ext cx="3154680" cy="4683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rgbClr val="232326"/>
                </a:solidFill>
                <a:latin typeface="Aptos"/>
              </a:rPr>
              <a:t>Project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655064"/>
            <a:ext cx="3154680" cy="3143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222A34"/>
                </a:solidFill>
                <a:latin typeface="Aptos"/>
              </a:defRPr>
            </a:pPr>
            <a:endParaRPr lang="en-US" sz="1600" b="0" dirty="0">
              <a:solidFill>
                <a:srgbClr val="4B525A"/>
              </a:solidFill>
              <a:latin typeface="Aptos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222A34"/>
                </a:solidFill>
                <a:latin typeface="Aptos"/>
              </a:defRPr>
            </a:pPr>
            <a:r>
              <a:rPr sz="1900" b="0" dirty="0">
                <a:solidFill>
                  <a:srgbClr val="4B525A"/>
                </a:solidFill>
                <a:latin typeface="Aptos"/>
              </a:rPr>
              <a:t>The framework uses historical traffic data, STGCN-based short-term prediction, OpenStreetMap road-network data, A* routing, and a decision mechanism based on expected benefit and prediction reliability.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389159"/>
            <a:ext cx="10789920" cy="856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Core idea: use predicted traffic to make route changes more selective, stable and useful.</a:t>
            </a:r>
          </a:p>
        </p:txBody>
      </p:sp>
      <p:pic>
        <p:nvPicPr>
          <p:cNvPr id="21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4840" y="411480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5120640" cy="4683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rgbClr val="232326"/>
                </a:solidFill>
                <a:latin typeface="Aptos"/>
              </a:rPr>
              <a:t>The existing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5212080" cy="2783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70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• Traffic conditions vary rapidly over short time intervals.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70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• A route that is optimal at the current moment may become slower soon.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70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• Alternative routes may offer only a small predicted improvement.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70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• Frequent switching can create unnecessary rerouting and unstable navigation.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43000"/>
            <a:ext cx="4800600" cy="32278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54864" cy="3227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271016"/>
            <a:ext cx="452628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Why it needs to be addressed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655064"/>
            <a:ext cx="4526280" cy="20600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0">
                <a:solidFill>
                  <a:srgbClr val="222A34"/>
                </a:solidFill>
                <a:latin typeface="Aptos"/>
              </a:defRPr>
            </a:pPr>
            <a:endParaRPr lang="en-US" sz="2000" b="0" dirty="0">
              <a:solidFill>
                <a:srgbClr val="4B525A"/>
              </a:solidFill>
              <a:latin typeface="Aptos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  <a:defRPr sz="16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A route recommendation should consider not only which route is faster, but whether the predicted improvement is meaningful and reliable enough to justify switching from the current route.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4807479"/>
            <a:ext cx="4480560" cy="1243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2B7E58"/>
                </a:solidFill>
                <a:latin typeface="Aptos"/>
              </a:defRPr>
            </a:pPr>
            <a:r>
              <a:rPr sz="24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Target decision:</a:t>
            </a:r>
            <a:br>
              <a:rPr sz="2400" dirty="0">
                <a:solidFill>
                  <a:schemeClr val="tx2">
                    <a:lumMod val="50000"/>
                  </a:schemeClr>
                </a:solidFill>
              </a:rPr>
            </a:br>
            <a:r>
              <a:rPr sz="24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REROUTE only when benefit + reliability justify the change.</a:t>
            </a:r>
          </a:p>
        </p:txBody>
      </p:sp>
      <p:pic>
        <p:nvPicPr>
          <p:cNvPr id="15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4840" y="384048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3429000" cy="34429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flipH="1">
            <a:off x="685801" y="1143000"/>
            <a:ext cx="45719" cy="3442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271016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142B4C"/>
                </a:solidFill>
                <a:latin typeface="Aptos"/>
              </a:defRPr>
            </a:pPr>
            <a:r>
              <a:rPr sz="1700" b="1">
                <a:solidFill>
                  <a:srgbClr val="232326"/>
                </a:solidFill>
                <a:latin typeface="Aptos"/>
              </a:rPr>
              <a:t>Why this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655064"/>
            <a:ext cx="3154680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222A34"/>
                </a:solidFill>
                <a:latin typeface="Aptos"/>
              </a:defRPr>
            </a:pPr>
            <a:r>
              <a:rPr sz="1600" b="0">
                <a:solidFill>
                  <a:srgbClr val="4B525A"/>
                </a:solidFill>
                <a:latin typeface="Aptos"/>
              </a:rPr>
              <a:t>Current traffic conditions alone do not capture what may happen in the next few minutes. Short-term prediction can provide a forward-looking basis for routing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43000"/>
            <a:ext cx="3429000" cy="34429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143000"/>
            <a:ext cx="54864" cy="3442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271016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142B4C"/>
                </a:solidFill>
                <a:latin typeface="Aptos"/>
              </a:defRPr>
            </a:pPr>
            <a:r>
              <a:rPr sz="1700" b="1">
                <a:solidFill>
                  <a:srgbClr val="232326"/>
                </a:solidFill>
                <a:latin typeface="Aptos"/>
              </a:rPr>
              <a:t>Real-world importance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655064"/>
            <a:ext cx="3154680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222A34"/>
                </a:solidFill>
                <a:latin typeface="Aptos"/>
              </a:defRPr>
            </a:pPr>
            <a:r>
              <a:rPr sz="1600" b="0">
                <a:solidFill>
                  <a:srgbClr val="4B525A"/>
                </a:solidFill>
                <a:latin typeface="Aptos"/>
              </a:rPr>
              <a:t>Unnecessary route changes can reduce navigation stability. A more selective rerouting policy aims to preserve meaningful travel-time improvements without reacting to small or uncertain differences.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43000"/>
            <a:ext cx="3429000" cy="34429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143000"/>
            <a:ext cx="45719" cy="3442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271016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142B4C"/>
                </a:solidFill>
                <a:latin typeface="Aptos"/>
              </a:defRPr>
            </a:pPr>
            <a:r>
              <a:rPr sz="1700" b="1">
                <a:solidFill>
                  <a:srgbClr val="232326"/>
                </a:solidFill>
                <a:latin typeface="Aptos"/>
              </a:rPr>
              <a:t>Research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655064"/>
            <a:ext cx="3154680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222A34"/>
                </a:solidFill>
                <a:latin typeface="Aptos"/>
              </a:defRPr>
            </a:pPr>
            <a:r>
              <a:rPr sz="1600" b="0">
                <a:solidFill>
                  <a:srgbClr val="4B525A"/>
                </a:solidFill>
                <a:latin typeface="Aptos"/>
              </a:rPr>
              <a:t>The project combines three stages that are often treated separately: traffic forecasting, traffic-aware route optimization, and intelligent rerouting decisions.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" y="5197337"/>
            <a:ext cx="10789919" cy="4683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Motivation → make route recommendations predictive, not merely reactive.</a:t>
            </a:r>
          </a:p>
        </p:txBody>
      </p:sp>
      <p:pic>
        <p:nvPicPr>
          <p:cNvPr id="21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440682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3383280" cy="16916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54864" cy="169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271016"/>
            <a:ext cx="310896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01  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655064"/>
            <a:ext cx="310896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Forecast traffic conditions for the next 15–30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143000"/>
            <a:ext cx="3383280" cy="16916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143000"/>
            <a:ext cx="54864" cy="169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225296"/>
            <a:ext cx="3218688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02  Estimate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655064"/>
            <a:ext cx="310896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Convert predicted speeds into segment-level travel times.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143000"/>
            <a:ext cx="3383280" cy="16916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1143000"/>
            <a:ext cx="54864" cy="169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1271016"/>
            <a:ext cx="310896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03  Optimize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655064"/>
            <a:ext cx="3108960" cy="7289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Generate traffic-aware candidate routes using A*.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83280"/>
            <a:ext cx="3383280" cy="16916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383280"/>
            <a:ext cx="54864" cy="169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3511296"/>
            <a:ext cx="310896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04  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895344"/>
            <a:ext cx="310896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Evaluate expected benefit + prediction reliability before rerouting.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383280"/>
            <a:ext cx="3383280" cy="16916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60" y="3383280"/>
            <a:ext cx="54864" cy="169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45152" y="3511296"/>
            <a:ext cx="310896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05  Stabilize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895344"/>
            <a:ext cx="310896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Reduce unnecessary route switches while preserving efficiency.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58968"/>
            <a:ext cx="10607040" cy="856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Main objective: integrate short-term traffic prediction, route optimization and intelligent rerouting into one framework.</a:t>
            </a:r>
          </a:p>
        </p:txBody>
      </p:sp>
      <p:pic>
        <p:nvPicPr>
          <p:cNvPr id="29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398153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474595"/>
              </p:ext>
            </p:extLst>
          </p:nvPr>
        </p:nvGraphicFramePr>
        <p:xfrm>
          <a:off x="580103" y="1143000"/>
          <a:ext cx="1098705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Aptos"/>
                        </a:rPr>
                        <a:t>Aspect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Aptos"/>
                        </a:rPr>
                        <a:t>Conventional approach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Aptos"/>
                        </a:rPr>
                        <a:t>Limitation relevant to this project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/>
                        </a:rPr>
                        <a:t>Traffic state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400" b="0" dirty="0">
                          <a:solidFill>
                            <a:srgbClr val="232326"/>
                          </a:solidFill>
                          <a:latin typeface="Aptos"/>
                        </a:rPr>
                        <a:t>Uses current / historical traffic information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400" b="0">
                          <a:solidFill>
                            <a:srgbClr val="232326"/>
                          </a:solidFill>
                          <a:latin typeface="Aptos"/>
                        </a:rPr>
                        <a:t>May not represent near-future changes.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/>
                        </a:rPr>
                        <a:t>Route selection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400" b="0" dirty="0">
                          <a:solidFill>
                            <a:srgbClr val="232326"/>
                          </a:solidFill>
                          <a:latin typeface="Aptos"/>
                        </a:rPr>
                        <a:t>Recommend an alternative when it appears better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400" b="0" dirty="0">
                          <a:solidFill>
                            <a:srgbClr val="232326"/>
                          </a:solidFill>
                          <a:latin typeface="Aptos"/>
                        </a:rPr>
                        <a:t>Small predicted gains can trigger unnecessary changes.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/>
                        </a:rPr>
                        <a:t>Rerouting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400" b="0">
                          <a:solidFill>
                            <a:srgbClr val="232326"/>
                          </a:solidFill>
                          <a:latin typeface="Aptos"/>
                        </a:rPr>
                        <a:t>Route switch can be reactive to changing conditions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400" b="0" dirty="0">
                          <a:solidFill>
                            <a:srgbClr val="232326"/>
                          </a:solidFill>
                          <a:latin typeface="Aptos"/>
                        </a:rPr>
                        <a:t>Can lead to unstable navigation.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/>
                        </a:rPr>
                        <a:t>Decision basis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400" b="0">
                          <a:solidFill>
                            <a:srgbClr val="232326"/>
                          </a:solidFill>
                          <a:latin typeface="Aptos"/>
                        </a:rPr>
                        <a:t>Primarily route-cost comparison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400" b="0" dirty="0">
                          <a:solidFill>
                            <a:srgbClr val="232326"/>
                          </a:solidFill>
                          <a:latin typeface="Aptos"/>
                        </a:rPr>
                        <a:t>Does not explicitly combine benefit with prediction reliability.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4380" y="5290193"/>
            <a:ext cx="10515600" cy="856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Gap exposed by the project: route choice needs a selective decision layer, not only a better route.</a:t>
            </a:r>
          </a:p>
        </p:txBody>
      </p:sp>
      <p:pic>
        <p:nvPicPr>
          <p:cNvPr id="10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6948" y="337769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754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2688" y="1197863"/>
            <a:ext cx="438912" cy="43891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261872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550" b="1" dirty="0">
                <a:solidFill>
                  <a:srgbClr val="232326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161288"/>
            <a:ext cx="3977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550" b="1">
                <a:solidFill>
                  <a:srgbClr val="232326"/>
                </a:solidFill>
                <a:latin typeface="Aptos"/>
              </a:rPr>
              <a:t>Traffic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472184"/>
            <a:ext cx="39776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222A34"/>
                </a:solidFill>
                <a:latin typeface="Aptos"/>
              </a:defRPr>
            </a:pPr>
            <a:r>
              <a:rPr sz="1450" b="0">
                <a:solidFill>
                  <a:srgbClr val="4B525A"/>
                </a:solidFill>
                <a:latin typeface="Aptos"/>
              </a:rPr>
              <a:t>METR-LA / public historical traffic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1801367"/>
            <a:ext cx="0" cy="164593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1984248"/>
            <a:ext cx="4754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2688" y="2130552"/>
            <a:ext cx="438912" cy="43891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194560"/>
            <a:ext cx="438912" cy="343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US" sz="1600" dirty="0">
                <a:solidFill>
                  <a:srgbClr val="4B525A"/>
                </a:solidFill>
                <a:latin typeface="Aptos"/>
              </a:rPr>
              <a:t>2</a:t>
            </a:r>
            <a:endParaRPr sz="1600" b="0" dirty="0">
              <a:solidFill>
                <a:srgbClr val="4B525A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81328" y="2093976"/>
            <a:ext cx="3977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550" b="1">
                <a:solidFill>
                  <a:srgbClr val="232326"/>
                </a:solidFill>
                <a:latin typeface="Aptos"/>
              </a:rPr>
              <a:t>STGCN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404872"/>
            <a:ext cx="39776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222A34"/>
                </a:solidFill>
                <a:latin typeface="Aptos"/>
              </a:defRPr>
            </a:pPr>
            <a:r>
              <a:rPr sz="1450" b="0">
                <a:solidFill>
                  <a:srgbClr val="4B525A"/>
                </a:solidFill>
                <a:latin typeface="Aptos"/>
              </a:rPr>
              <a:t>Learn spatial + temporal traffic patterns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2734056"/>
            <a:ext cx="0" cy="164592"/>
          </a:xfrm>
          <a:prstGeom prst="line">
            <a:avLst/>
          </a:prstGeom>
          <a:ln w="25400">
            <a:solidFill>
              <a:srgbClr val="2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2916936"/>
            <a:ext cx="4754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2688" y="3063240"/>
            <a:ext cx="438912" cy="43891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127248"/>
            <a:ext cx="438912" cy="335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US" sz="1550" b="1" dirty="0">
                <a:solidFill>
                  <a:srgbClr val="232326"/>
                </a:solidFill>
                <a:latin typeface="Aptos"/>
              </a:rPr>
              <a:t>3</a:t>
            </a:r>
            <a:endParaRPr sz="1550" b="1" dirty="0">
              <a:solidFill>
                <a:srgbClr val="232326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81328" y="3026664"/>
            <a:ext cx="3977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550" b="1">
                <a:solidFill>
                  <a:srgbClr val="232326"/>
                </a:solidFill>
                <a:latin typeface="Aptos"/>
              </a:rPr>
              <a:t>Travel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337560"/>
            <a:ext cx="39776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222A34"/>
                </a:solidFill>
                <a:latin typeface="Aptos"/>
              </a:defRPr>
            </a:pPr>
            <a:r>
              <a:rPr sz="1450" b="0">
                <a:solidFill>
                  <a:srgbClr val="4B525A"/>
                </a:solidFill>
                <a:latin typeface="Aptos"/>
              </a:rPr>
              <a:t>Predicted speed → segment travel time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00400" y="3666744"/>
            <a:ext cx="0" cy="164591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" y="3849624"/>
            <a:ext cx="4754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32688" y="3995928"/>
            <a:ext cx="438912" cy="43891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4059936"/>
            <a:ext cx="438912" cy="343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US" sz="1600" b="1" dirty="0">
                <a:solidFill>
                  <a:srgbClr val="4B525A"/>
                </a:solidFill>
                <a:latin typeface="Aptos"/>
              </a:rPr>
              <a:t>4</a:t>
            </a:r>
            <a:endParaRPr sz="1600" b="1" dirty="0">
              <a:solidFill>
                <a:srgbClr val="4B525A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81328" y="3959352"/>
            <a:ext cx="3977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550" b="1">
                <a:solidFill>
                  <a:srgbClr val="232326"/>
                </a:solidFill>
                <a:latin typeface="Aptos"/>
              </a:rPr>
              <a:t>A* Routing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270248"/>
            <a:ext cx="39776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222A34"/>
                </a:solidFill>
                <a:latin typeface="Aptos"/>
              </a:defRPr>
            </a:pPr>
            <a:r>
              <a:rPr sz="1450" b="0">
                <a:solidFill>
                  <a:srgbClr val="4B525A"/>
                </a:solidFill>
                <a:latin typeface="Aptos"/>
              </a:rPr>
              <a:t>Dynamic costs → candidate routes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00400" y="4599432"/>
            <a:ext cx="0" cy="164592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2960" y="4782312"/>
            <a:ext cx="4754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32688" y="4928616"/>
            <a:ext cx="438912" cy="43891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4992624"/>
            <a:ext cx="438912" cy="343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US" sz="1600" dirty="0">
                <a:solidFill>
                  <a:srgbClr val="4B525A"/>
                </a:solidFill>
                <a:latin typeface="Aptos"/>
              </a:rPr>
              <a:t>5</a:t>
            </a:r>
            <a:endParaRPr sz="1600" b="0" dirty="0">
              <a:solidFill>
                <a:srgbClr val="4B525A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81328" y="4892040"/>
            <a:ext cx="3977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550" b="1">
                <a:solidFill>
                  <a:srgbClr val="232326"/>
                </a:solidFill>
                <a:latin typeface="Aptos"/>
              </a:rPr>
              <a:t>Decision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202936"/>
            <a:ext cx="39776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222A34"/>
                </a:solidFill>
                <a:latin typeface="Aptos"/>
              </a:defRPr>
            </a:pPr>
            <a:r>
              <a:rPr sz="1450" b="0">
                <a:solidFill>
                  <a:srgbClr val="4B525A"/>
                </a:solidFill>
                <a:latin typeface="Aptos"/>
              </a:rPr>
              <a:t>Benefit + reliability → Reroute / Stay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1143000"/>
            <a:ext cx="4572000" cy="44805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72200" y="1143000"/>
            <a:ext cx="54864" cy="4480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36792" y="1271016"/>
            <a:ext cx="429768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Advantages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1655064"/>
            <a:ext cx="4297680" cy="36374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• Predicts near-future traffic rather than using only the present state.</a:t>
            </a: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• Uses predicted travel time as a dynamic routing cost.</a:t>
            </a: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• Generates candidate alternatives with A*.</a:t>
            </a: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• Adds an explicit benefit + reliability decision before rerouting.</a:t>
            </a: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• Aims to reduce unnecessary route changes while maintaining efficient travel.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806440"/>
            <a:ext cx="4160520" cy="343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AE4141"/>
                </a:solidFill>
                <a:latin typeface="Aptos"/>
              </a:defRPr>
            </a:pPr>
            <a:r>
              <a:rPr sz="16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Proposed, not yet presented as achieved.</a:t>
            </a:r>
          </a:p>
        </p:txBody>
      </p:sp>
      <p:pic>
        <p:nvPicPr>
          <p:cNvPr id="42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873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Literature Survey — Road Mapping &amp; Change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51560"/>
            <a:ext cx="5257800" cy="2176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051559"/>
            <a:ext cx="45719" cy="2176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179576"/>
            <a:ext cx="4983480" cy="390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1">
                <a:solidFill>
                  <a:srgbClr val="142B4C"/>
                </a:solidFill>
                <a:latin typeface="Aptos"/>
              </a:defRPr>
            </a:pPr>
            <a:r>
              <a:rPr sz="1900" b="1" dirty="0">
                <a:solidFill>
                  <a:srgbClr val="232326"/>
                </a:solidFill>
                <a:latin typeface="Aptos"/>
              </a:rPr>
              <a:t>1  Zhang &amp; </a:t>
            </a:r>
            <a:r>
              <a:rPr sz="1900" b="1" dirty="0" err="1">
                <a:solidFill>
                  <a:srgbClr val="232326"/>
                </a:solidFill>
                <a:latin typeface="Aptos"/>
              </a:rPr>
              <a:t>Couloigner</a:t>
            </a:r>
            <a:r>
              <a:rPr sz="1900" b="1" dirty="0">
                <a:solidFill>
                  <a:srgbClr val="232326"/>
                </a:solidFill>
                <a:latin typeface="Aptos"/>
              </a:rPr>
              <a:t> (2004)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563624"/>
            <a:ext cx="4983480" cy="1618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222A34"/>
                </a:solidFill>
                <a:latin typeface="Aptos"/>
              </a:defRPr>
            </a:pPr>
            <a:r>
              <a:rPr sz="1900" b="0" dirty="0">
                <a:solidFill>
                  <a:srgbClr val="4B525A"/>
                </a:solidFill>
                <a:latin typeface="Aptos"/>
              </a:rPr>
              <a:t>A Framework for Road Change Detection and Map Updating</a:t>
            </a:r>
            <a:br>
              <a:rPr sz="1900" dirty="0"/>
            </a:br>
            <a:r>
              <a:rPr sz="1900" b="0" dirty="0">
                <a:solidFill>
                  <a:srgbClr val="4B525A"/>
                </a:solidFill>
                <a:latin typeface="Aptos"/>
              </a:rPr>
              <a:t>Unified road extraction, change detection/updating and </a:t>
            </a:r>
            <a:r>
              <a:rPr sz="1900" b="0" dirty="0" err="1">
                <a:solidFill>
                  <a:srgbClr val="4B525A"/>
                </a:solidFill>
                <a:latin typeface="Aptos"/>
              </a:rPr>
              <a:t>spatio</a:t>
            </a:r>
            <a:r>
              <a:rPr sz="1900" b="0" dirty="0">
                <a:solidFill>
                  <a:srgbClr val="4B525A"/>
                </a:solidFill>
                <a:latin typeface="Aptos"/>
              </a:rPr>
              <a:t>-temporal database modeling.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51560"/>
            <a:ext cx="5257800" cy="2176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051560"/>
            <a:ext cx="45719" cy="2176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179576"/>
            <a:ext cx="4983480" cy="390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1">
                <a:solidFill>
                  <a:srgbClr val="142B4C"/>
                </a:solidFill>
                <a:latin typeface="Aptos"/>
              </a:defRPr>
            </a:pPr>
            <a:r>
              <a:rPr sz="1900" b="1" dirty="0">
                <a:solidFill>
                  <a:srgbClr val="232326"/>
                </a:solidFill>
                <a:latin typeface="Aptos"/>
              </a:rPr>
              <a:t>2  Sui et al. (2023)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563624"/>
            <a:ext cx="4983480" cy="1618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222A34"/>
                </a:solidFill>
                <a:latin typeface="Aptos"/>
              </a:defRPr>
            </a:pPr>
            <a:r>
              <a:rPr sz="1900" b="0" dirty="0">
                <a:solidFill>
                  <a:srgbClr val="4B525A"/>
                </a:solidFill>
                <a:latin typeface="Aptos"/>
              </a:rPr>
              <a:t>Vector Road Map Updating … Directed Road Tracing</a:t>
            </a:r>
            <a:br>
              <a:rPr sz="1900" dirty="0"/>
            </a:br>
            <a:r>
              <a:rPr sz="1900" b="0" dirty="0">
                <a:solidFill>
                  <a:srgbClr val="4B525A"/>
                </a:solidFill>
                <a:latin typeface="Aptos"/>
              </a:rPr>
              <a:t>Intersection-guided vector map updating using CINet, RoadBranchNet and directed tracing.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5257800" cy="2176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474720"/>
            <a:ext cx="45719" cy="2176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602736"/>
            <a:ext cx="4983480" cy="6806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1">
                <a:solidFill>
                  <a:srgbClr val="142B4C"/>
                </a:solidFill>
                <a:latin typeface="Aptos"/>
              </a:defRPr>
            </a:pPr>
            <a:r>
              <a:rPr sz="1900" b="1" dirty="0">
                <a:solidFill>
                  <a:srgbClr val="232326"/>
                </a:solidFill>
                <a:latin typeface="Aptos"/>
              </a:rPr>
              <a:t>3  Xu et al. (2018</a:t>
            </a:r>
            <a:r>
              <a:rPr lang="en-US" sz="1900" b="1" dirty="0">
                <a:solidFill>
                  <a:srgbClr val="232326"/>
                </a:solidFill>
                <a:latin typeface="Aptos"/>
              </a:rPr>
              <a:t>)</a:t>
            </a:r>
            <a:endParaRPr lang="en-US" sz="1550" b="1" dirty="0">
              <a:solidFill>
                <a:srgbClr val="232326"/>
              </a:solidFill>
              <a:latin typeface="Aptos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  <a:defRPr sz="1400" b="1">
                <a:solidFill>
                  <a:srgbClr val="142B4C"/>
                </a:solidFill>
                <a:latin typeface="Aptos"/>
              </a:defRPr>
            </a:pPr>
            <a:endParaRPr sz="1550" b="1" dirty="0">
              <a:solidFill>
                <a:srgbClr val="232326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0392" y="3986783"/>
            <a:ext cx="4983480" cy="1311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222A34"/>
                </a:solidFill>
                <a:latin typeface="Aptos"/>
              </a:defRPr>
            </a:pPr>
            <a:r>
              <a:rPr sz="1900" b="0" dirty="0">
                <a:solidFill>
                  <a:srgbClr val="4B525A"/>
                </a:solidFill>
                <a:latin typeface="Aptos"/>
              </a:rPr>
              <a:t>Road Extraction from High-Resolution Remote Sensing Imagery Using Deep Learning</a:t>
            </a:r>
            <a:br>
              <a:rPr sz="1900" dirty="0"/>
            </a:br>
            <a:r>
              <a:rPr sz="1900" b="0" dirty="0" err="1">
                <a:solidFill>
                  <a:srgbClr val="4B525A"/>
                </a:solidFill>
                <a:latin typeface="Aptos"/>
              </a:rPr>
              <a:t>DenseNet</a:t>
            </a:r>
            <a:r>
              <a:rPr sz="1900" b="0" dirty="0">
                <a:solidFill>
                  <a:srgbClr val="4B525A"/>
                </a:solidFill>
                <a:latin typeface="Aptos"/>
              </a:rPr>
              <a:t> + U-Net with local/global attention for road extraction.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474720"/>
            <a:ext cx="5257800" cy="2176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474720"/>
            <a:ext cx="54864" cy="2176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3602736"/>
            <a:ext cx="4983480" cy="390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1">
                <a:solidFill>
                  <a:srgbClr val="142B4C"/>
                </a:solidFill>
                <a:latin typeface="Aptos"/>
              </a:defRPr>
            </a:pPr>
            <a:r>
              <a:rPr sz="1900" b="1" dirty="0">
                <a:solidFill>
                  <a:srgbClr val="232326"/>
                </a:solidFill>
                <a:latin typeface="Aptos"/>
              </a:rPr>
              <a:t>4  Van Etten (2020)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986783"/>
            <a:ext cx="4983480" cy="1311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222A34"/>
                </a:solidFill>
                <a:latin typeface="Aptos"/>
              </a:defRPr>
            </a:pPr>
            <a:r>
              <a:rPr sz="1900" b="0" dirty="0">
                <a:solidFill>
                  <a:srgbClr val="4B525A"/>
                </a:solidFill>
                <a:latin typeface="Aptos"/>
              </a:rPr>
              <a:t>City-Scale Road Extraction from Satellite Imagery v2</a:t>
            </a:r>
            <a:br>
              <a:rPr sz="1900" dirty="0"/>
            </a:br>
            <a:r>
              <a:rPr sz="1900" b="0" dirty="0">
                <a:solidFill>
                  <a:srgbClr val="4B525A"/>
                </a:solidFill>
                <a:latin typeface="Aptos"/>
              </a:rPr>
              <a:t>Connects road extraction with road speeds and travel-time attributes for routing.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251" y="5810161"/>
            <a:ext cx="10789920" cy="7289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6A7684"/>
                </a:solidFill>
                <a:latin typeface="Aptos"/>
              </a:defRPr>
            </a:pPr>
            <a:r>
              <a:rPr sz="20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Relevance: road-network quality and travel-time-aware network representation support downstream routing.</a:t>
            </a:r>
          </a:p>
        </p:txBody>
      </p:sp>
      <p:pic>
        <p:nvPicPr>
          <p:cNvPr id="25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65176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400" b="1">
                <a:solidFill>
                  <a:srgbClr val="142B4C"/>
                </a:solidFill>
                <a:latin typeface="Aptos Display"/>
              </a:defRPr>
            </a:pPr>
            <a:r>
              <a:rPr sz="2600" b="1">
                <a:solidFill>
                  <a:srgbClr val="232326"/>
                </a:solidFill>
                <a:latin typeface="Aptos"/>
              </a:rPr>
              <a:t>Literature Survey — Connectivity &amp; Graph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960120"/>
            <a:ext cx="525780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960120"/>
            <a:ext cx="54864" cy="137160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088136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1">
                <a:solidFill>
                  <a:srgbClr val="142B4C"/>
                </a:solidFill>
                <a:latin typeface="Aptos"/>
              </a:defRPr>
            </a:pPr>
            <a:r>
              <a:rPr sz="1500" b="1">
                <a:solidFill>
                  <a:srgbClr val="232326"/>
                </a:solidFill>
                <a:latin typeface="Aptos"/>
              </a:rPr>
              <a:t>5  Batra et al. (2019)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472184"/>
            <a:ext cx="4983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50" b="0">
                <a:solidFill>
                  <a:srgbClr val="222A34"/>
                </a:solidFill>
                <a:latin typeface="Aptos"/>
              </a:defRPr>
            </a:pPr>
            <a:r>
              <a:rPr sz="1320" b="0">
                <a:solidFill>
                  <a:srgbClr val="4B525A"/>
                </a:solidFill>
                <a:latin typeface="Aptos"/>
              </a:rPr>
              <a:t>Improved Road Connectivity by Joint Learning of Orientation and Segmentation</a:t>
            </a:r>
            <a:br/>
            <a:r>
              <a:rPr sz="1320" b="0">
                <a:solidFill>
                  <a:srgbClr val="4B525A"/>
                </a:solidFill>
                <a:latin typeface="Aptos"/>
              </a:rPr>
              <a:t>Joint orientation + segmentation and connectivity refinement improve topological road connectivity.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960120"/>
            <a:ext cx="525780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81928" y="960120"/>
            <a:ext cx="54864" cy="1371600"/>
          </a:xfrm>
          <a:prstGeom prst="rect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088136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1">
                <a:solidFill>
                  <a:srgbClr val="142B4C"/>
                </a:solidFill>
                <a:latin typeface="Aptos"/>
              </a:defRPr>
            </a:pPr>
            <a:r>
              <a:rPr sz="1500" b="1">
                <a:solidFill>
                  <a:srgbClr val="232326"/>
                </a:solidFill>
                <a:latin typeface="Aptos"/>
              </a:rPr>
              <a:t>6  Zhu et al. (2021)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472184"/>
            <a:ext cx="4983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50" b="0">
                <a:solidFill>
                  <a:srgbClr val="222A34"/>
                </a:solidFill>
                <a:latin typeface="Aptos"/>
              </a:defRPr>
            </a:pPr>
            <a:r>
              <a:rPr sz="1320" b="0">
                <a:solidFill>
                  <a:srgbClr val="4B525A"/>
                </a:solidFill>
                <a:latin typeface="Aptos"/>
              </a:rPr>
              <a:t>A Global Context-aware and Batch-independent Network for road extraction from VHR satellite imagery</a:t>
            </a:r>
            <a:br/>
            <a:r>
              <a:rPr sz="1320" b="0">
                <a:solidFill>
                  <a:srgbClr val="4B525A"/>
                </a:solidFill>
                <a:latin typeface="Aptos"/>
              </a:rPr>
              <a:t>Global context and multi-scale features improve road completeness and transfer robustness.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624328"/>
            <a:ext cx="525780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2624328"/>
            <a:ext cx="54864" cy="137160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275234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1">
                <a:solidFill>
                  <a:srgbClr val="142B4C"/>
                </a:solidFill>
                <a:latin typeface="Aptos"/>
              </a:defRPr>
            </a:pPr>
            <a:r>
              <a:rPr sz="1500" b="1">
                <a:solidFill>
                  <a:srgbClr val="232326"/>
                </a:solidFill>
                <a:latin typeface="Aptos"/>
              </a:rPr>
              <a:t>7  Bastani &amp; Madden (2021)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136392"/>
            <a:ext cx="4983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50" b="0">
                <a:solidFill>
                  <a:srgbClr val="222A34"/>
                </a:solidFill>
                <a:latin typeface="Aptos"/>
              </a:defRPr>
            </a:pPr>
            <a:r>
              <a:rPr sz="1320" b="0">
                <a:solidFill>
                  <a:srgbClr val="4B525A"/>
                </a:solidFill>
                <a:latin typeface="Aptos"/>
              </a:rPr>
              <a:t>Beyond Road Extraction: A Dataset for Map Update using Aerial Images</a:t>
            </a:r>
            <a:br/>
            <a:r>
              <a:rPr sz="1320" b="0">
                <a:solidFill>
                  <a:srgbClr val="4B525A"/>
                </a:solidFill>
                <a:latin typeface="Aptos"/>
              </a:rPr>
              <a:t>MUNO21 frames map updating as adding, removing and shifting roads over temporal imagery.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2624328"/>
            <a:ext cx="525780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81928" y="2624328"/>
            <a:ext cx="54864" cy="1371600"/>
          </a:xfrm>
          <a:prstGeom prst="rect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75234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1">
                <a:solidFill>
                  <a:srgbClr val="142B4C"/>
                </a:solidFill>
                <a:latin typeface="Aptos"/>
              </a:defRPr>
            </a:pPr>
            <a:r>
              <a:rPr sz="1500" b="1">
                <a:solidFill>
                  <a:srgbClr val="232326"/>
                </a:solidFill>
                <a:latin typeface="Aptos"/>
              </a:rPr>
              <a:t>8  Duan et al. (2024)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36392"/>
            <a:ext cx="4983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50" b="0">
                <a:solidFill>
                  <a:srgbClr val="222A34"/>
                </a:solidFill>
                <a:latin typeface="Aptos"/>
              </a:defRPr>
            </a:pPr>
            <a:r>
              <a:rPr sz="1320" b="0">
                <a:solidFill>
                  <a:srgbClr val="4B525A"/>
                </a:solidFill>
                <a:latin typeface="Aptos"/>
              </a:rPr>
              <a:t>BRIGHTEARTH ROADS: Towards Fully Automatic Road Network Extraction</a:t>
            </a:r>
            <a:br/>
            <a:r>
              <a:rPr sz="1320" b="0">
                <a:solidFill>
                  <a:srgbClr val="4B525A"/>
                </a:solidFill>
                <a:latin typeface="Aptos"/>
              </a:rPr>
              <a:t>End-to-end road extraction to connected OSM-like road line-strings with graph reconstruction.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288536"/>
            <a:ext cx="525780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4288536"/>
            <a:ext cx="54864" cy="137160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" y="441655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1">
                <a:solidFill>
                  <a:srgbClr val="142B4C"/>
                </a:solidFill>
                <a:latin typeface="Aptos"/>
              </a:defRPr>
            </a:pPr>
            <a:r>
              <a:rPr sz="1500" b="1">
                <a:solidFill>
                  <a:srgbClr val="232326"/>
                </a:solidFill>
                <a:latin typeface="Aptos"/>
              </a:rPr>
              <a:t>9  Belli &amp; Kipf (2019)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800600"/>
            <a:ext cx="4983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50" b="0">
                <a:solidFill>
                  <a:srgbClr val="222A34"/>
                </a:solidFill>
                <a:latin typeface="Aptos"/>
              </a:defRPr>
            </a:pPr>
            <a:r>
              <a:rPr sz="1320" b="0">
                <a:solidFill>
                  <a:srgbClr val="4B525A"/>
                </a:solidFill>
                <a:latin typeface="Aptos"/>
              </a:rPr>
              <a:t>Image-Conditioned Graph Generation for Road Network Extraction</a:t>
            </a:r>
            <a:br/>
            <a:r>
              <a:rPr sz="1320" b="0">
                <a:solidFill>
                  <a:srgbClr val="4B525A"/>
                </a:solidFill>
                <a:latin typeface="Aptos"/>
              </a:rPr>
              <a:t>Generative Graph Transformer creates road graphs from image-conditioned semantic inputs.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1928" y="4288536"/>
            <a:ext cx="525780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81928" y="4288536"/>
            <a:ext cx="54864" cy="1371600"/>
          </a:xfrm>
          <a:prstGeom prst="rect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441655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1">
                <a:solidFill>
                  <a:srgbClr val="142B4C"/>
                </a:solidFill>
                <a:latin typeface="Aptos"/>
              </a:defRPr>
            </a:pPr>
            <a:r>
              <a:rPr sz="1500" b="1">
                <a:solidFill>
                  <a:srgbClr val="232326"/>
                </a:solidFill>
                <a:latin typeface="Aptos"/>
              </a:rPr>
              <a:t>10  Wegner et al. (2013)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800600"/>
            <a:ext cx="4983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50" b="0">
                <a:solidFill>
                  <a:srgbClr val="222A34"/>
                </a:solidFill>
                <a:latin typeface="Aptos"/>
              </a:defRPr>
            </a:pPr>
            <a:r>
              <a:rPr sz="1320" b="0">
                <a:solidFill>
                  <a:srgbClr val="4B525A"/>
                </a:solidFill>
                <a:latin typeface="Aptos"/>
              </a:rPr>
              <a:t>A Higher-order CRF Model for Road Network Extraction</a:t>
            </a:r>
            <a:br/>
            <a:r>
              <a:rPr sz="1320" b="0">
                <a:solidFill>
                  <a:srgbClr val="4B525A"/>
                </a:solidFill>
                <a:latin typeface="Aptos"/>
              </a:rPr>
              <a:t>Higher-order CRF explicitly models road topology and long-range connectivity.</a:t>
            </a:r>
          </a:p>
        </p:txBody>
      </p:sp>
      <p:pic>
        <p:nvPicPr>
          <p:cNvPr id="32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75193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24128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2B4C"/>
                </a:solidFill>
                <a:latin typeface="Aptos"/>
              </a:defRPr>
            </a:pPr>
            <a:r>
              <a:rPr sz="1700" b="1">
                <a:solidFill>
                  <a:srgbClr val="232326"/>
                </a:solidFill>
                <a:latin typeface="Aptos"/>
              </a:rPr>
              <a:t>What the reviewed work establishes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3429000" cy="309981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45719" cy="30998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728216"/>
            <a:ext cx="3154680" cy="7289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Road extraction / updating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864" y="2395433"/>
            <a:ext cx="3154680" cy="20215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The literature addresses road extraction, connectivity, vector map updating and graph reconstruction from imagery.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00200"/>
            <a:ext cx="3429000" cy="309981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1600200"/>
            <a:ext cx="54864" cy="30998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728216"/>
            <a:ext cx="315468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Travel-time-aware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112264"/>
            <a:ext cx="3154680" cy="1698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City-scale road extraction work demonstrates that road graphs can carry speed and travel-time attributes for routing.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600200"/>
            <a:ext cx="3429000" cy="309981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55864" y="1600200"/>
            <a:ext cx="54864" cy="30998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0456" y="1728216"/>
            <a:ext cx="315468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Remaining project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112264"/>
            <a:ext cx="3154680" cy="20215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The proposed framework targets short-term traffic forecasting plus an explicit rerouting decision based on expected benefit and prediction reliability.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91204"/>
            <a:ext cx="10287000" cy="856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2B7E58"/>
                </a:solidFill>
                <a:latin typeface="Aptos"/>
              </a:defRPr>
            </a:pPr>
            <a:r>
              <a:rPr sz="24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Research gap addressed by this project: connect predictive traffic state → dynamic route cost → selective rerouting decision.</a:t>
            </a:r>
          </a:p>
        </p:txBody>
      </p:sp>
      <p:pic>
        <p:nvPicPr>
          <p:cNvPr id="22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458318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Methodology /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1417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42687" y="1912320"/>
            <a:ext cx="438912" cy="4206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2687" y="1971392"/>
            <a:ext cx="438912" cy="335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US" sz="1550" b="1" dirty="0">
                <a:solidFill>
                  <a:srgbClr val="232326"/>
                </a:solidFill>
                <a:latin typeface="Aptos"/>
              </a:rPr>
              <a:t>1</a:t>
            </a:r>
            <a:endParaRPr sz="1550" b="1" dirty="0">
              <a:solidFill>
                <a:srgbClr val="23232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250" b="1">
                <a:solidFill>
                  <a:srgbClr val="232326"/>
                </a:solidFill>
                <a:latin typeface="Aptos"/>
              </a:rPr>
              <a:t>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33472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4B525A"/>
                </a:solidFill>
                <a:latin typeface="Aptos"/>
              </a:rPr>
              <a:t>Traffic + road-network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0240" y="2532888"/>
            <a:ext cx="246888" cy="0"/>
          </a:xfrm>
          <a:prstGeom prst="line">
            <a:avLst/>
          </a:prstGeom>
          <a:ln w="25400">
            <a:solidFill>
              <a:srgbClr val="2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167128" y="1737360"/>
            <a:ext cx="1417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203704" y="1883665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03704" y="1940742"/>
            <a:ext cx="438912" cy="343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US" sz="1600" b="1" dirty="0">
                <a:solidFill>
                  <a:srgbClr val="4B525A"/>
                </a:solidFill>
                <a:latin typeface="Aptos"/>
              </a:rPr>
              <a:t>2</a:t>
            </a:r>
            <a:endParaRPr sz="1600" b="1" dirty="0">
              <a:solidFill>
                <a:srgbClr val="4B525A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58568" y="2286000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250" b="1">
                <a:solidFill>
                  <a:srgbClr val="232326"/>
                </a:solidFill>
                <a:latin typeface="Aptos"/>
              </a:rPr>
              <a:t>Prepare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2633472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4B525A"/>
                </a:solidFill>
                <a:latin typeface="Aptos"/>
              </a:rPr>
              <a:t>Clean, normalize and validate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84448" y="2532888"/>
            <a:ext cx="246888" cy="0"/>
          </a:xfrm>
          <a:prstGeom prst="line">
            <a:avLst/>
          </a:prstGeom>
          <a:ln w="25400">
            <a:solidFill>
              <a:srgbClr val="2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831336" y="1737360"/>
            <a:ext cx="1417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922776" y="1847088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22776" y="1930503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550" b="1" dirty="0">
                <a:solidFill>
                  <a:srgbClr val="232326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22776" y="2286000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250" b="1">
                <a:solidFill>
                  <a:srgbClr val="232326"/>
                </a:solidFill>
                <a:latin typeface="Aptos"/>
              </a:rPr>
              <a:t>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22776" y="2633472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4B525A"/>
                </a:solidFill>
                <a:latin typeface="Aptos"/>
              </a:rPr>
              <a:t>STGCN → next 15–30 min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48656" y="2532888"/>
            <a:ext cx="246888" cy="0"/>
          </a:xfrm>
          <a:prstGeom prst="line">
            <a:avLst/>
          </a:prstGeom>
          <a:ln w="25400">
            <a:solidFill>
              <a:srgbClr val="2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95544" y="1737360"/>
            <a:ext cx="1417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605272" y="1857350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86984" y="1911127"/>
            <a:ext cx="438912" cy="343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US" sz="1600" b="1" dirty="0">
                <a:solidFill>
                  <a:srgbClr val="4B525A"/>
                </a:solidFill>
                <a:latin typeface="Aptos"/>
              </a:rPr>
              <a:t>4</a:t>
            </a:r>
            <a:endParaRPr sz="1600" b="1" dirty="0">
              <a:solidFill>
                <a:srgbClr val="4B525A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86984" y="2286000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250" b="1">
                <a:solidFill>
                  <a:srgbClr val="232326"/>
                </a:solidFill>
                <a:latin typeface="Aptos"/>
              </a:rPr>
              <a:t>Convert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86984" y="2633472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4B525A"/>
                </a:solidFill>
                <a:latin typeface="Aptos"/>
              </a:rPr>
              <a:t>Speed → segment travel time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912864" y="2532888"/>
            <a:ext cx="246888" cy="0"/>
          </a:xfrm>
          <a:prstGeom prst="line">
            <a:avLst/>
          </a:prstGeom>
          <a:ln w="25400">
            <a:solidFill>
              <a:srgbClr val="2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159752" y="1737360"/>
            <a:ext cx="1417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232904" y="1830276"/>
            <a:ext cx="438912" cy="44600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32904" y="1889307"/>
            <a:ext cx="438912" cy="343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US" sz="1600" b="1" dirty="0">
                <a:solidFill>
                  <a:srgbClr val="4B525A"/>
                </a:solidFill>
                <a:latin typeface="Aptos"/>
              </a:rPr>
              <a:t>5</a:t>
            </a:r>
            <a:endParaRPr sz="1600" b="1" dirty="0">
              <a:solidFill>
                <a:srgbClr val="4B525A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51192" y="2286000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250" b="1">
                <a:solidFill>
                  <a:srgbClr val="232326"/>
                </a:solidFill>
                <a:latin typeface="Aptos"/>
              </a:rPr>
              <a:t>Route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1192" y="2633472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4B525A"/>
                </a:solidFill>
                <a:latin typeface="Aptos"/>
              </a:rPr>
              <a:t>A* → candidate alternatives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77072" y="2532888"/>
            <a:ext cx="246888" cy="0"/>
          </a:xfrm>
          <a:prstGeom prst="line">
            <a:avLst/>
          </a:prstGeom>
          <a:ln w="25400">
            <a:solidFill>
              <a:srgbClr val="2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823960" y="1737360"/>
            <a:ext cx="1417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915400" y="1847088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15400" y="1901952"/>
            <a:ext cx="438912" cy="640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US" sz="1600" b="1" dirty="0">
                <a:solidFill>
                  <a:srgbClr val="4B525A"/>
                </a:solidFill>
                <a:latin typeface="Aptos"/>
              </a:rPr>
              <a:t>6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endParaRPr sz="1600" b="1" dirty="0">
              <a:solidFill>
                <a:srgbClr val="4B525A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15400" y="2286000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250" b="1" dirty="0">
                <a:solidFill>
                  <a:srgbClr val="232326"/>
                </a:solidFill>
                <a:latin typeface="Aptos"/>
              </a:rPr>
              <a:t>Decide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2633472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4B525A"/>
                </a:solidFill>
                <a:latin typeface="Aptos"/>
              </a:rPr>
              <a:t>Benefit + reliability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241280" y="2532888"/>
            <a:ext cx="246888" cy="0"/>
          </a:xfrm>
          <a:prstGeom prst="line">
            <a:avLst/>
          </a:prstGeom>
          <a:ln w="25400">
            <a:solidFill>
              <a:srgbClr val="2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488168" y="1737360"/>
            <a:ext cx="1417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597896" y="1827621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97896" y="1901952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600" b="0" dirty="0">
                <a:solidFill>
                  <a:srgbClr val="4B525A"/>
                </a:solidFill>
                <a:latin typeface="Aptos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79608" y="2286000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250" b="1" dirty="0">
                <a:solidFill>
                  <a:srgbClr val="232326"/>
                </a:solidFill>
                <a:latin typeface="Aptos"/>
              </a:rPr>
              <a:t>Recommend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79608" y="2633472"/>
            <a:ext cx="1234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4B525A"/>
                </a:solidFill>
                <a:latin typeface="Aptos"/>
              </a:rPr>
              <a:t>Reroute or stay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1051560"/>
            <a:ext cx="10698480" cy="4683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rgbClr val="232326"/>
                </a:solidFill>
                <a:latin typeface="Aptos"/>
              </a:rPr>
              <a:t>Step-by-step project workflow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120" y="4160520"/>
            <a:ext cx="1508760" cy="347472"/>
          </a:xfrm>
          <a:prstGeom prst="round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0120" y="4178807"/>
            <a:ext cx="1508760" cy="2569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00" b="1">
                <a:solidFill>
                  <a:srgbClr val="142B4C"/>
                </a:solidFill>
                <a:latin typeface="Aptos"/>
              </a:defRPr>
            </a:pPr>
            <a:r>
              <a:rPr sz="1050" b="1" dirty="0">
                <a:solidFill>
                  <a:srgbClr val="232326"/>
                </a:solidFill>
                <a:latin typeface="Aptos"/>
              </a:rPr>
              <a:t>METR-LA / public data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88920" y="4160520"/>
            <a:ext cx="1234440" cy="347472"/>
          </a:xfrm>
          <a:prstGeom prst="round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88920" y="4178807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00" b="1">
                <a:solidFill>
                  <a:srgbClr val="142B4C"/>
                </a:solidFill>
                <a:latin typeface="Aptos"/>
              </a:defRPr>
            </a:pPr>
            <a:r>
              <a:rPr sz="1150" b="1">
                <a:solidFill>
                  <a:srgbClr val="232326"/>
                </a:solidFill>
                <a:latin typeface="Aptos"/>
              </a:rPr>
              <a:t>Python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43400" y="4160520"/>
            <a:ext cx="1234440" cy="347472"/>
          </a:xfrm>
          <a:prstGeom prst="round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43400" y="4178807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00" b="1">
                <a:solidFill>
                  <a:srgbClr val="142B4C"/>
                </a:solidFill>
                <a:latin typeface="Aptos"/>
              </a:defRPr>
            </a:pPr>
            <a:r>
              <a:rPr sz="1150" b="1">
                <a:solidFill>
                  <a:srgbClr val="232326"/>
                </a:solidFill>
                <a:latin typeface="Aptos"/>
              </a:rPr>
              <a:t>Pandas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97880" y="4160520"/>
            <a:ext cx="1234440" cy="347472"/>
          </a:xfrm>
          <a:prstGeom prst="round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897880" y="4178807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00" b="1">
                <a:solidFill>
                  <a:srgbClr val="142B4C"/>
                </a:solidFill>
                <a:latin typeface="Aptos"/>
              </a:defRPr>
            </a:pPr>
            <a:r>
              <a:rPr sz="1150" b="1">
                <a:solidFill>
                  <a:srgbClr val="232326"/>
                </a:solidFill>
                <a:latin typeface="Aptos"/>
              </a:rPr>
              <a:t>NumPy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52360" y="4160520"/>
            <a:ext cx="1417320" cy="347472"/>
          </a:xfrm>
          <a:prstGeom prst="round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52360" y="4178807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00" b="1">
                <a:solidFill>
                  <a:srgbClr val="142B4C"/>
                </a:solidFill>
                <a:latin typeface="Aptos"/>
              </a:defRPr>
            </a:pPr>
            <a:r>
              <a:rPr sz="1150" b="1">
                <a:solidFill>
                  <a:srgbClr val="232326"/>
                </a:solidFill>
                <a:latin typeface="Aptos"/>
              </a:rPr>
              <a:t>STGCN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89720" y="4160520"/>
            <a:ext cx="1234440" cy="347472"/>
          </a:xfrm>
          <a:prstGeom prst="round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189720" y="4178807"/>
            <a:ext cx="1234440" cy="264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00" b="1">
                <a:solidFill>
                  <a:srgbClr val="142B4C"/>
                </a:solidFill>
                <a:latin typeface="Aptos"/>
              </a:defRPr>
            </a:pPr>
            <a:r>
              <a:rPr sz="1100" b="1" dirty="0">
                <a:solidFill>
                  <a:srgbClr val="232326"/>
                </a:solidFill>
                <a:latin typeface="Aptos"/>
              </a:rPr>
              <a:t>OpenStre</a:t>
            </a:r>
            <a:r>
              <a:rPr lang="en-US" sz="1100" b="1" dirty="0">
                <a:solidFill>
                  <a:srgbClr val="232326"/>
                </a:solidFill>
                <a:latin typeface="Aptos"/>
              </a:rPr>
              <a:t>e</a:t>
            </a:r>
            <a:r>
              <a:rPr sz="1100" b="1" dirty="0">
                <a:solidFill>
                  <a:srgbClr val="232326"/>
                </a:solidFill>
                <a:latin typeface="Aptos"/>
              </a:rPr>
              <a:t>tMap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63440" y="4800600"/>
            <a:ext cx="1234440" cy="347472"/>
          </a:xfrm>
          <a:prstGeom prst="round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663440" y="481888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00" b="1">
                <a:solidFill>
                  <a:srgbClr val="142B4C"/>
                </a:solidFill>
                <a:latin typeface="Aptos"/>
              </a:defRPr>
            </a:pPr>
            <a:r>
              <a:rPr sz="1150" b="1">
                <a:solidFill>
                  <a:srgbClr val="232326"/>
                </a:solidFill>
                <a:latin typeface="Aptos"/>
              </a:rPr>
              <a:t>A*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5596128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AE4141"/>
                </a:solidFill>
                <a:latin typeface="Aptos"/>
              </a:defRPr>
            </a:pPr>
            <a:r>
              <a:rPr sz="1350" b="0" dirty="0">
                <a:solidFill>
                  <a:srgbClr val="4B525A"/>
                </a:solidFill>
                <a:latin typeface="Aptos"/>
              </a:rPr>
              <a:t>The workflow is proposed in the supplied project material; implementation/results are not claimed here.</a:t>
            </a:r>
          </a:p>
        </p:txBody>
      </p:sp>
      <p:pic>
        <p:nvPicPr>
          <p:cNvPr id="65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74904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Module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886627"/>
              </p:ext>
            </p:extLst>
          </p:nvPr>
        </p:nvGraphicFramePr>
        <p:xfrm>
          <a:off x="685800" y="1097280"/>
          <a:ext cx="10835640" cy="506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5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Aptos"/>
                        </a:rPr>
                        <a:t>Module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Aptos"/>
                        </a:rPr>
                        <a:t>Functionality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800" b="0">
                          <a:solidFill>
                            <a:srgbClr val="232326"/>
                          </a:solidFill>
                          <a:latin typeface="Aptos"/>
                        </a:rPr>
                        <a:t>1. Traffic Data &amp; Preprocessing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232326"/>
                          </a:solidFill>
                          <a:latin typeface="Aptos"/>
                        </a:rPr>
                        <a:t>Handle missing values, inconsistencies and normalization of historical traffic measurements.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800" b="0">
                          <a:solidFill>
                            <a:srgbClr val="232326"/>
                          </a:solidFill>
                          <a:latin typeface="Aptos"/>
                        </a:rPr>
                        <a:t>2. Traffic Prediction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232326"/>
                          </a:solidFill>
                          <a:latin typeface="Aptos"/>
                        </a:rPr>
                        <a:t>STGCN learns spatial relationships and temporal patterns to predict traffic conditions for 15–30 minutes.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800" b="0">
                          <a:solidFill>
                            <a:srgbClr val="232326"/>
                          </a:solidFill>
                          <a:latin typeface="Aptos"/>
                        </a:rPr>
                        <a:t>3. Travel-Time Estimation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232326"/>
                          </a:solidFill>
                          <a:latin typeface="Aptos"/>
                        </a:rPr>
                        <a:t>Convert predicted segment speeds into estimated travel times.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800" b="0">
                          <a:solidFill>
                            <a:srgbClr val="232326"/>
                          </a:solidFill>
                          <a:latin typeface="Aptos"/>
                        </a:rPr>
                        <a:t>4. Route Optimization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232326"/>
                          </a:solidFill>
                          <a:latin typeface="Aptos"/>
                        </a:rPr>
                        <a:t>Use predicted travel-time costs on an OpenStreetMap road network and generate candidate routes with A*.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800" b="0">
                          <a:solidFill>
                            <a:srgbClr val="232326"/>
                          </a:solidFill>
                          <a:latin typeface="Aptos"/>
                        </a:rPr>
                        <a:t>5. Intelligent Decision Engine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600" b="0">
                          <a:solidFill>
                            <a:srgbClr val="232326"/>
                          </a:solidFill>
                          <a:latin typeface="Aptos"/>
                        </a:rPr>
                        <a:t>Compare current and alternative routes using expected benefit and prediction reliability; choose REROUTE or STAY.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800" b="0" dirty="0">
                          <a:solidFill>
                            <a:srgbClr val="232326"/>
                          </a:solidFill>
                          <a:latin typeface="Aptos"/>
                        </a:rPr>
                        <a:t>6. Testing &amp; Validation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2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600" b="0" dirty="0">
                          <a:solidFill>
                            <a:srgbClr val="232326"/>
                          </a:solidFill>
                          <a:latin typeface="Aptos"/>
                        </a:rPr>
                        <a:t>Evaluate prediction and route-level behavior using the defined metrics.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211824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6A7684"/>
                </a:solidFill>
                <a:latin typeface="Aptos"/>
              </a:defRPr>
            </a:pPr>
            <a:r>
              <a:rPr sz="1350" b="0" dirty="0">
                <a:solidFill>
                  <a:srgbClr val="4B525A"/>
                </a:solidFill>
                <a:latin typeface="Aptos"/>
              </a:rPr>
              <a:t>Modules reflect the supplied project workflow and terminology.</a:t>
            </a:r>
          </a:p>
        </p:txBody>
      </p:sp>
      <p:pic>
        <p:nvPicPr>
          <p:cNvPr id="10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4225" y="357009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024128"/>
            <a:ext cx="10012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34440" y="1207008"/>
            <a:ext cx="1920240" cy="56692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1335024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550" b="1">
                <a:solidFill>
                  <a:srgbClr val="FFFFFF"/>
                </a:solidFill>
                <a:latin typeface="Aptos"/>
              </a:rPr>
              <a:t>INPUT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207008"/>
            <a:ext cx="324612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Historical Traffic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207008"/>
            <a:ext cx="370332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OpenStreetMap Road Network</a:t>
            </a:r>
          </a:p>
        </p:txBody>
      </p:sp>
      <p:cxnSp>
        <p:nvCxnSpPr>
          <p:cNvPr id="13" name="Connector 12"/>
          <p:cNvCxnSpPr>
            <a:cxnSpLocks/>
            <a:stCxn id="8" idx="2"/>
            <a:endCxn id="14" idx="0"/>
          </p:cNvCxnSpPr>
          <p:nvPr/>
        </p:nvCxnSpPr>
        <p:spPr>
          <a:xfrm>
            <a:off x="6057900" y="2075688"/>
            <a:ext cx="0" cy="210312"/>
          </a:xfrm>
          <a:prstGeom prst="line">
            <a:avLst/>
          </a:prstGeom>
          <a:ln w="25400">
            <a:solidFill>
              <a:srgbClr val="2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51560" y="2286000"/>
            <a:ext cx="10012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34440" y="2468880"/>
            <a:ext cx="1920240" cy="566928"/>
          </a:xfrm>
          <a:prstGeom prst="roundRect">
            <a:avLst/>
          </a:prstGeom>
          <a:solidFill>
            <a:srgbClr val="2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2482596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550" b="1" dirty="0">
                <a:solidFill>
                  <a:srgbClr val="FFFFFF"/>
                </a:solidFill>
                <a:latin typeface="Aptos"/>
              </a:rPr>
              <a:t>PREDICTION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468880"/>
            <a:ext cx="324612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468880"/>
            <a:ext cx="370332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STGCN Traffic Forecasting</a:t>
            </a:r>
          </a:p>
        </p:txBody>
      </p:sp>
      <p:cxnSp>
        <p:nvCxnSpPr>
          <p:cNvPr id="19" name="Connector 18"/>
          <p:cNvCxnSpPr>
            <a:cxnSpLocks/>
            <a:stCxn id="14" idx="2"/>
            <a:endCxn id="20" idx="0"/>
          </p:cNvCxnSpPr>
          <p:nvPr/>
        </p:nvCxnSpPr>
        <p:spPr>
          <a:xfrm>
            <a:off x="6057900" y="3337560"/>
            <a:ext cx="0" cy="210312"/>
          </a:xfrm>
          <a:prstGeom prst="line">
            <a:avLst/>
          </a:prstGeom>
          <a:ln w="25400">
            <a:solidFill>
              <a:srgbClr val="2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51560" y="3547872"/>
            <a:ext cx="10012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234440" y="3730752"/>
            <a:ext cx="1920240" cy="566928"/>
          </a:xfrm>
          <a:prstGeom prst="round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385876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550" b="1">
                <a:solidFill>
                  <a:srgbClr val="FFFFFF"/>
                </a:solidFill>
                <a:latin typeface="Aptos"/>
              </a:rPr>
              <a:t>ROUTING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730752"/>
            <a:ext cx="3246120" cy="7289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Predicted Travel-Time Costs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730752"/>
            <a:ext cx="370332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A* Candidate Routes</a:t>
            </a:r>
          </a:p>
        </p:txBody>
      </p:sp>
      <p:cxnSp>
        <p:nvCxnSpPr>
          <p:cNvPr id="25" name="Connector 24"/>
          <p:cNvCxnSpPr>
            <a:cxnSpLocks/>
            <a:stCxn id="20" idx="2"/>
            <a:endCxn id="26" idx="0"/>
          </p:cNvCxnSpPr>
          <p:nvPr/>
        </p:nvCxnSpPr>
        <p:spPr>
          <a:xfrm>
            <a:off x="6057900" y="4599432"/>
            <a:ext cx="0" cy="210312"/>
          </a:xfrm>
          <a:prstGeom prst="line">
            <a:avLst/>
          </a:prstGeom>
          <a:ln w="25400">
            <a:solidFill>
              <a:srgbClr val="2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51560" y="4809744"/>
            <a:ext cx="10012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234440" y="4992624"/>
            <a:ext cx="1920240" cy="566928"/>
          </a:xfrm>
          <a:prstGeom prst="roundRect">
            <a:avLst/>
          </a:prstGeom>
          <a:solidFill>
            <a:srgbClr val="2B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34440" y="512064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550" b="1">
                <a:solidFill>
                  <a:srgbClr val="FFFFFF"/>
                </a:solidFill>
                <a:latin typeface="Aptos"/>
              </a:rPr>
              <a:t>DECISION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992624"/>
            <a:ext cx="324612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Benefit + Reliability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992624"/>
            <a:ext cx="3703320" cy="405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2000" b="1" dirty="0">
                <a:solidFill>
                  <a:srgbClr val="232326"/>
                </a:solidFill>
                <a:latin typeface="Aptos"/>
              </a:rPr>
              <a:t>REROUTE / STAY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99048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6A7684"/>
                </a:solidFill>
                <a:latin typeface="Aptos"/>
              </a:defRPr>
            </a:pPr>
            <a:r>
              <a:rPr sz="1150" b="0">
                <a:solidFill>
                  <a:srgbClr val="4B525A"/>
                </a:solidFill>
                <a:latin typeface="Aptos"/>
              </a:rPr>
              <a:t>Architecture is represented as editable PowerPoint shapes.</a:t>
            </a:r>
          </a:p>
        </p:txBody>
      </p:sp>
      <p:pic>
        <p:nvPicPr>
          <p:cNvPr id="32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21742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UML / Design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2412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2B4C"/>
                </a:solidFill>
                <a:latin typeface="Aptos"/>
              </a:defRPr>
            </a:pPr>
            <a:r>
              <a:rPr sz="1600" b="1">
                <a:solidFill>
                  <a:srgbClr val="232326"/>
                </a:solidFill>
                <a:latin typeface="Aptos"/>
              </a:rPr>
              <a:t>Use Case Diagram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600200"/>
            <a:ext cx="4754880" cy="4160520"/>
          </a:xfrm>
          <a:prstGeom prst="rect">
            <a:avLst/>
          </a:prstGeom>
          <a:noFill/>
          <a:ln>
            <a:solidFill>
              <a:srgbClr val="14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3120" y="17190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550" b="1">
                <a:solidFill>
                  <a:srgbClr val="232326"/>
                </a:solidFill>
                <a:latin typeface="Aptos"/>
              </a:rPr>
              <a:t>Predictive Route Recommendation System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743200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14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1028700" y="3154680"/>
            <a:ext cx="0" cy="822959"/>
          </a:xfrm>
          <a:prstGeom prst="line">
            <a:avLst/>
          </a:prstGeom>
          <a:ln>
            <a:solidFill>
              <a:srgbClr val="14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5791" y="453567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200" b="1">
                <a:solidFill>
                  <a:srgbClr val="142B4C"/>
                </a:solidFill>
                <a:latin typeface="Aptos"/>
              </a:defRPr>
            </a:pPr>
            <a:r>
              <a:rPr sz="1600" b="0" dirty="0">
                <a:solidFill>
                  <a:srgbClr val="4B525A"/>
                </a:solidFill>
                <a:latin typeface="Aptos"/>
              </a:rPr>
              <a:t>User</a:t>
            </a:r>
          </a:p>
        </p:txBody>
      </p:sp>
      <p:sp>
        <p:nvSpPr>
          <p:cNvPr id="14" name="Oval 13"/>
          <p:cNvSpPr/>
          <p:nvPr/>
        </p:nvSpPr>
        <p:spPr>
          <a:xfrm>
            <a:off x="2423160" y="2240280"/>
            <a:ext cx="2331720" cy="777240"/>
          </a:xfrm>
          <a:prstGeom prst="ellipse">
            <a:avLst/>
          </a:prstGeom>
          <a:solidFill>
            <a:srgbClr val="E2EEF8"/>
          </a:solidFill>
          <a:ln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14600" y="2414016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142B4C"/>
                </a:solidFill>
                <a:latin typeface="Aptos"/>
              </a:defRPr>
            </a:pPr>
            <a:r>
              <a:rPr sz="1320" b="0">
                <a:solidFill>
                  <a:srgbClr val="4B525A"/>
                </a:solidFill>
                <a:latin typeface="Aptos"/>
              </a:rPr>
              <a:t>Provide source /</a:t>
            </a:r>
            <a:br/>
            <a:r>
              <a:rPr sz="1320" b="0">
                <a:solidFill>
                  <a:srgbClr val="4B525A"/>
                </a:solidFill>
                <a:latin typeface="Aptos"/>
              </a:rPr>
              <a:t>destination</a:t>
            </a: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1582994" y="2624328"/>
            <a:ext cx="840166" cy="0"/>
          </a:xfrm>
          <a:prstGeom prst="line">
            <a:avLst/>
          </a:prstGeom>
          <a:ln w="16510">
            <a:solidFill>
              <a:srgbClr val="14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23160" y="3154680"/>
            <a:ext cx="2331720" cy="777240"/>
          </a:xfrm>
          <a:prstGeom prst="ellipse">
            <a:avLst/>
          </a:prstGeom>
          <a:solidFill>
            <a:srgbClr val="E2EEF8"/>
          </a:solidFill>
          <a:ln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14600" y="3328416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142B4C"/>
                </a:solidFill>
                <a:latin typeface="Aptos"/>
              </a:defRPr>
            </a:pPr>
            <a:r>
              <a:rPr sz="1320" b="0">
                <a:solidFill>
                  <a:srgbClr val="4B525A"/>
                </a:solidFill>
                <a:latin typeface="Aptos"/>
              </a:rPr>
              <a:t>Receive route</a:t>
            </a:r>
            <a:br/>
            <a:r>
              <a:rPr sz="1320" b="0">
                <a:solidFill>
                  <a:srgbClr val="4B525A"/>
                </a:solidFill>
                <a:latin typeface="Aptos"/>
              </a:rPr>
              <a:t>recommendation</a:t>
            </a:r>
          </a:p>
        </p:txBody>
      </p:sp>
      <p:cxnSp>
        <p:nvCxnSpPr>
          <p:cNvPr id="19" name="Connector 18"/>
          <p:cNvCxnSpPr>
            <a:cxnSpLocks/>
          </p:cNvCxnSpPr>
          <p:nvPr/>
        </p:nvCxnSpPr>
        <p:spPr>
          <a:xfrm>
            <a:off x="1582994" y="3538728"/>
            <a:ext cx="840166" cy="0"/>
          </a:xfrm>
          <a:prstGeom prst="line">
            <a:avLst/>
          </a:prstGeom>
          <a:ln w="16510">
            <a:solidFill>
              <a:srgbClr val="14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423160" y="4069080"/>
            <a:ext cx="2331720" cy="777240"/>
          </a:xfrm>
          <a:prstGeom prst="ellipse">
            <a:avLst/>
          </a:prstGeom>
          <a:solidFill>
            <a:srgbClr val="E2EEF8"/>
          </a:solidFill>
          <a:ln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14600" y="4242816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142B4C"/>
                </a:solidFill>
                <a:latin typeface="Aptos"/>
              </a:defRPr>
            </a:pPr>
            <a:r>
              <a:rPr sz="1320" b="0">
                <a:solidFill>
                  <a:srgbClr val="4B525A"/>
                </a:solidFill>
                <a:latin typeface="Aptos"/>
              </a:rPr>
              <a:t>View Reroute /</a:t>
            </a:r>
            <a:br/>
            <a:r>
              <a:rPr sz="1320" b="0">
                <a:solidFill>
                  <a:srgbClr val="4B525A"/>
                </a:solidFill>
                <a:latin typeface="Aptos"/>
              </a:rPr>
              <a:t>Stay decision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>
            <a:off x="1582994" y="4453128"/>
            <a:ext cx="840166" cy="0"/>
          </a:xfrm>
          <a:prstGeom prst="line">
            <a:avLst/>
          </a:prstGeom>
          <a:ln w="16510">
            <a:solidFill>
              <a:srgbClr val="14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800600" y="2240280"/>
            <a:ext cx="155448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24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50891" y="2479941"/>
            <a:ext cx="14081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00" b="1">
                <a:solidFill>
                  <a:srgbClr val="142B4C"/>
                </a:solidFill>
                <a:latin typeface="Aptos"/>
              </a:defRPr>
            </a:pPr>
            <a:r>
              <a:rPr sz="1320" b="0" dirty="0">
                <a:solidFill>
                  <a:srgbClr val="4B525A"/>
                </a:solidFill>
                <a:latin typeface="Aptos"/>
              </a:rPr>
              <a:t>Predict traffic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3154680"/>
            <a:ext cx="155448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24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50891" y="3282696"/>
            <a:ext cx="14081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00" b="1">
                <a:solidFill>
                  <a:srgbClr val="142B4C"/>
                </a:solidFill>
                <a:latin typeface="Aptos"/>
              </a:defRPr>
            </a:pPr>
            <a:r>
              <a:rPr sz="1320" b="0" dirty="0">
                <a:solidFill>
                  <a:srgbClr val="4B525A"/>
                </a:solidFill>
                <a:latin typeface="Aptos"/>
              </a:rPr>
              <a:t>Generate A*</a:t>
            </a:r>
            <a:br>
              <a:rPr dirty="0"/>
            </a:br>
            <a:r>
              <a:rPr sz="1320" b="0" dirty="0">
                <a:solidFill>
                  <a:srgbClr val="4B525A"/>
                </a:solidFill>
                <a:latin typeface="Aptos"/>
              </a:rPr>
              <a:t>candidates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4069080"/>
            <a:ext cx="155448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24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50891" y="4105656"/>
            <a:ext cx="14081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00" b="1">
                <a:solidFill>
                  <a:srgbClr val="142B4C"/>
                </a:solidFill>
                <a:latin typeface="Aptos"/>
              </a:defRPr>
            </a:pPr>
            <a:r>
              <a:rPr sz="1320" b="0" dirty="0">
                <a:solidFill>
                  <a:srgbClr val="4B525A"/>
                </a:solidFill>
                <a:latin typeface="Aptos"/>
              </a:rPr>
              <a:t>Evaluate benefit +</a:t>
            </a:r>
            <a:br>
              <a:rPr dirty="0"/>
            </a:br>
            <a:r>
              <a:rPr sz="1320" b="0" dirty="0">
                <a:solidFill>
                  <a:srgbClr val="4B525A"/>
                </a:solidFill>
                <a:latin typeface="Aptos"/>
              </a:rPr>
              <a:t>reliability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1417320"/>
            <a:ext cx="4297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86600" y="1417320"/>
            <a:ext cx="54864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51192" y="1545336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142B4C"/>
                </a:solidFill>
                <a:latin typeface="Aptos"/>
              </a:defRPr>
            </a:pPr>
            <a:r>
              <a:rPr sz="1600" b="1">
                <a:solidFill>
                  <a:srgbClr val="232326"/>
                </a:solidFill>
                <a:latin typeface="Aptos"/>
              </a:rPr>
              <a:t>Database / ER Diagram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1929384"/>
            <a:ext cx="402336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222A34"/>
                </a:solidFill>
                <a:latin typeface="Aptos"/>
              </a:defRPr>
            </a:pPr>
            <a:r>
              <a:rPr sz="1420" b="0">
                <a:solidFill>
                  <a:srgbClr val="4B525A"/>
                </a:solidFill>
                <a:latin typeface="Aptos"/>
              </a:rPr>
              <a:t>Not applicable / not established in the supplied project material. The project description does not specify a relational database schema.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3246120"/>
            <a:ext cx="4297680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086600" y="3246120"/>
            <a:ext cx="45719" cy="1408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51192" y="3374136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142B4C"/>
                </a:solidFill>
                <a:latin typeface="Aptos"/>
              </a:defRPr>
            </a:pPr>
            <a:r>
              <a:rPr sz="1600" b="1">
                <a:solidFill>
                  <a:srgbClr val="232326"/>
                </a:solidFill>
                <a:latin typeface="Aptos"/>
              </a:rPr>
              <a:t>Class Diagram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1192" y="3758183"/>
            <a:ext cx="402336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222A34"/>
                </a:solidFill>
                <a:latin typeface="Aptos"/>
              </a:defRPr>
            </a:pPr>
            <a:r>
              <a:rPr sz="1420" b="0">
                <a:solidFill>
                  <a:srgbClr val="4B525A"/>
                </a:solidFill>
                <a:latin typeface="Aptos"/>
              </a:rPr>
              <a:t>Not specified in the supplied project material. No class model is claimed for Review-1.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4882895"/>
            <a:ext cx="4297680" cy="1060705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095744" y="4882895"/>
            <a:ext cx="45719" cy="1124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23760" y="4954082"/>
            <a:ext cx="402336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142B4C"/>
                </a:solidFill>
                <a:latin typeface="Aptos"/>
              </a:defRPr>
            </a:pPr>
            <a:r>
              <a:rPr sz="1450" b="1" dirty="0">
                <a:solidFill>
                  <a:srgbClr val="232326"/>
                </a:solidFill>
                <a:latin typeface="Aptos"/>
              </a:rPr>
              <a:t>Design choice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5280660"/>
            <a:ext cx="402336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222A34"/>
                </a:solidFill>
                <a:latin typeface="Aptos"/>
              </a:defRPr>
            </a:pPr>
            <a:r>
              <a:rPr sz="1320" b="0" dirty="0">
                <a:solidFill>
                  <a:srgbClr val="4B525A"/>
                </a:solidFill>
                <a:latin typeface="Aptos"/>
              </a:rPr>
              <a:t>System architecture is the primary technical design representation for this review.</a:t>
            </a:r>
          </a:p>
        </p:txBody>
      </p:sp>
      <p:pic>
        <p:nvPicPr>
          <p:cNvPr id="41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1A4C0FE-4851-FBBD-4BC4-0766CB5506EC}"/>
              </a:ext>
            </a:extLst>
          </p:cNvPr>
          <p:cNvCxnSpPr>
            <a:stCxn id="11" idx="4"/>
          </p:cNvCxnSpPr>
          <p:nvPr/>
        </p:nvCxnSpPr>
        <p:spPr>
          <a:xfrm flipH="1">
            <a:off x="685800" y="3154680"/>
            <a:ext cx="342900" cy="539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25E4C1D-ECF6-A03E-6FE6-22846934DBC1}"/>
              </a:ext>
            </a:extLst>
          </p:cNvPr>
          <p:cNvCxnSpPr>
            <a:stCxn id="11" idx="4"/>
          </p:cNvCxnSpPr>
          <p:nvPr/>
        </p:nvCxnSpPr>
        <p:spPr>
          <a:xfrm>
            <a:off x="1028700" y="3154680"/>
            <a:ext cx="337984" cy="539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2987177-F294-B0D3-F106-39719207ECE9}"/>
              </a:ext>
            </a:extLst>
          </p:cNvPr>
          <p:cNvSpPr txBox="1"/>
          <p:nvPr/>
        </p:nvSpPr>
        <p:spPr>
          <a:xfrm>
            <a:off x="-741145" y="36672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9BAF6AA-2A8D-1ED1-754E-170FCF754688}"/>
              </a:ext>
            </a:extLst>
          </p:cNvPr>
          <p:cNvCxnSpPr/>
          <p:nvPr/>
        </p:nvCxnSpPr>
        <p:spPr>
          <a:xfrm flipH="1">
            <a:off x="685800" y="3986783"/>
            <a:ext cx="342900" cy="539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0E0AB87-3673-48C8-44EB-ADBFBCC83B7A}"/>
              </a:ext>
            </a:extLst>
          </p:cNvPr>
          <p:cNvCxnSpPr/>
          <p:nvPr/>
        </p:nvCxnSpPr>
        <p:spPr>
          <a:xfrm>
            <a:off x="1028700" y="3982467"/>
            <a:ext cx="337984" cy="539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9738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Testing / Validation + 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51560"/>
            <a:ext cx="3429000" cy="38623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051560"/>
            <a:ext cx="45719" cy="38623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179576"/>
            <a:ext cx="3154680" cy="17087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rgbClr val="232326"/>
                </a:solidFill>
                <a:latin typeface="Aptos"/>
              </a:rPr>
              <a:t>Traffic Prediction Metrics</a:t>
            </a:r>
            <a:endParaRPr lang="en-US" sz="2400" b="1" dirty="0">
              <a:solidFill>
                <a:srgbClr val="232326"/>
              </a:solidFill>
              <a:latin typeface="Aptos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2B4C"/>
                </a:solidFill>
                <a:latin typeface="Aptos"/>
              </a:defRPr>
            </a:pPr>
            <a:endParaRPr lang="en-US" sz="2400" b="1" dirty="0">
              <a:solidFill>
                <a:srgbClr val="232326"/>
              </a:solidFill>
              <a:latin typeface="Aptos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2B4C"/>
                </a:solidFill>
                <a:latin typeface="Aptos"/>
              </a:defRPr>
            </a:pPr>
            <a:endParaRPr sz="2400" b="1" dirty="0">
              <a:solidFill>
                <a:srgbClr val="23232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" y="1922884"/>
            <a:ext cx="3154680" cy="2991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MAE</a:t>
            </a: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Mean Absolute Error</a:t>
            </a:r>
            <a:br>
              <a:rPr sz="2000" dirty="0"/>
            </a:b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RMSE</a:t>
            </a: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Root Mean Square Error</a:t>
            </a:r>
            <a:br>
              <a:rPr sz="2000" dirty="0"/>
            </a:b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MAPE</a:t>
            </a: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Mean Absolute Percentage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051560"/>
            <a:ext cx="3429000" cy="39536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051560"/>
            <a:ext cx="45719" cy="39536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179576"/>
            <a:ext cx="3154680" cy="4683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rgbClr val="232326"/>
                </a:solidFill>
                <a:latin typeface="Aptos"/>
              </a:rPr>
              <a:t>Route-Level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563624"/>
            <a:ext cx="3154680" cy="2344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Travel-time savings</a:t>
            </a:r>
            <a:br>
              <a:rPr sz="2000" dirty="0"/>
            </a:b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Rerouting frequency</a:t>
            </a:r>
            <a:br>
              <a:rPr sz="2000" dirty="0"/>
            </a:b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Unnecessary rerouting rate</a:t>
            </a:r>
            <a:br>
              <a:rPr sz="2000" dirty="0"/>
            </a:b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Decision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051560"/>
            <a:ext cx="3429000" cy="39536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051560"/>
            <a:ext cx="54864" cy="39536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179576"/>
            <a:ext cx="3154680" cy="4683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rgbClr val="232326"/>
                </a:solidFill>
                <a:latin typeface="Aptos"/>
              </a:rPr>
              <a:t>Expected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563624"/>
            <a:ext cx="3154680" cy="2991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• Reliable short-term traffic predictions.</a:t>
            </a: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• Routes reflect predicted future traffic.</a:t>
            </a: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• Fewer unnecessary route switches.</a:t>
            </a:r>
            <a:br>
              <a:rPr sz="2000" dirty="0"/>
            </a:br>
            <a:r>
              <a:rPr sz="2000" b="0" dirty="0">
                <a:solidFill>
                  <a:srgbClr val="4B525A"/>
                </a:solidFill>
                <a:latin typeface="Aptos"/>
              </a:rPr>
              <a:t>• Meaningful travel-time improvements are preserved.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16276"/>
            <a:ext cx="10515600" cy="7289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100" b="1">
                <a:solidFill>
                  <a:srgbClr val="AE4141"/>
                </a:solidFill>
                <a:latin typeface="Aptos"/>
              </a:defRPr>
            </a:pPr>
            <a:r>
              <a:rPr sz="20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No experimental results are claimed because the supplied project material defines evaluation metrics but does not report achieved values.</a:t>
            </a:r>
          </a:p>
        </p:txBody>
      </p:sp>
      <p:pic>
        <p:nvPicPr>
          <p:cNvPr id="21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56616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Timeline / Work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803919"/>
              </p:ext>
            </p:extLst>
          </p:nvPr>
        </p:nvGraphicFramePr>
        <p:xfrm>
          <a:off x="685800" y="1051560"/>
          <a:ext cx="10835640" cy="4974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Aptos"/>
                        </a:rPr>
                        <a:t>Phase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Aptos"/>
                        </a:rPr>
                        <a:t>Status at Review-1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50" b="1" dirty="0">
                          <a:solidFill>
                            <a:srgbClr val="FFFFFF"/>
                          </a:solidFill>
                          <a:latin typeface="Aptos"/>
                        </a:rPr>
                        <a:t>Work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800" b="0" dirty="0">
                          <a:solidFill>
                            <a:srgbClr val="232326"/>
                          </a:solidFill>
                          <a:latin typeface="Aptos"/>
                        </a:rPr>
                        <a:t>Project definition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500" b="0">
                          <a:solidFill>
                            <a:srgbClr val="232326"/>
                          </a:solidFill>
                          <a:latin typeface="Aptos"/>
                        </a:rPr>
                        <a:t>Completed / documented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500" b="0">
                          <a:solidFill>
                            <a:srgbClr val="232326"/>
                          </a:solidFill>
                          <a:latin typeface="Aptos"/>
                        </a:rPr>
                        <a:t>Problem, motivation, objectives and project direction established.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800" b="0" dirty="0">
                          <a:solidFill>
                            <a:srgbClr val="232326"/>
                          </a:solidFill>
                          <a:latin typeface="Aptos"/>
                        </a:rPr>
                        <a:t>Literature survey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500" b="0">
                          <a:solidFill>
                            <a:srgbClr val="232326"/>
                          </a:solidFill>
                          <a:latin typeface="Aptos"/>
                        </a:rPr>
                        <a:t>Completed / documented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500" b="0">
                          <a:solidFill>
                            <a:srgbClr val="232326"/>
                          </a:solidFill>
                          <a:latin typeface="Aptos"/>
                        </a:rPr>
                        <a:t>10 supplied papers reviewed and linked to the project direction.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800" b="0">
                          <a:solidFill>
                            <a:srgbClr val="232326"/>
                          </a:solidFill>
                          <a:latin typeface="Aptos"/>
                        </a:rPr>
                        <a:t>System design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500" b="0">
                          <a:solidFill>
                            <a:srgbClr val="232326"/>
                          </a:solidFill>
                          <a:latin typeface="Aptos"/>
                        </a:rPr>
                        <a:t>Completed / documented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500" b="0">
                          <a:solidFill>
                            <a:srgbClr val="232326"/>
                          </a:solidFill>
                          <a:latin typeface="Aptos"/>
                        </a:rPr>
                        <a:t>Proposed workflow, modules and system architecture prepared.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800" b="0">
                          <a:solidFill>
                            <a:srgbClr val="232326"/>
                          </a:solidFill>
                          <a:latin typeface="Aptos"/>
                        </a:rPr>
                        <a:t>Implementation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500" b="0">
                          <a:solidFill>
                            <a:srgbClr val="232326"/>
                          </a:solidFill>
                          <a:latin typeface="Aptos"/>
                        </a:rPr>
                        <a:t>Next phase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500" b="0">
                          <a:solidFill>
                            <a:srgbClr val="232326"/>
                          </a:solidFill>
                          <a:latin typeface="Aptos"/>
                        </a:rPr>
                        <a:t>Implement preprocessing, STGCN forecasting, travel-time estimation and A* routing.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800" b="0">
                          <a:solidFill>
                            <a:srgbClr val="232326"/>
                          </a:solidFill>
                          <a:latin typeface="Aptos"/>
                        </a:rPr>
                        <a:t>Decision &amp; validation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500" b="0">
                          <a:solidFill>
                            <a:srgbClr val="232326"/>
                          </a:solidFill>
                          <a:latin typeface="Aptos"/>
                        </a:rPr>
                        <a:t>Planned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500" b="0">
                          <a:solidFill>
                            <a:srgbClr val="232326"/>
                          </a:solidFill>
                          <a:latin typeface="Aptos"/>
                        </a:rPr>
                        <a:t>Implement benefit + reliability decision and evaluate defined metrics.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800" b="0" dirty="0">
                          <a:solidFill>
                            <a:srgbClr val="232326"/>
                          </a:solidFill>
                          <a:latin typeface="Aptos"/>
                        </a:rPr>
                        <a:t>Integration / refinement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500" b="0">
                          <a:solidFill>
                            <a:srgbClr val="232326"/>
                          </a:solidFill>
                          <a:latin typeface="Aptos"/>
                        </a:rPr>
                        <a:t>Planned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  <a:defRPr sz="1100">
                          <a:solidFill>
                            <a:srgbClr val="222A34"/>
                          </a:solidFill>
                          <a:latin typeface="Aptos"/>
                        </a:defRPr>
                      </a:pPr>
                      <a:r>
                        <a:rPr sz="1500" b="0" dirty="0">
                          <a:solidFill>
                            <a:srgbClr val="232326"/>
                          </a:solidFill>
                          <a:latin typeface="Aptos"/>
                        </a:rPr>
                        <a:t>Integrate modules, assess rerouting behavior and refine the framework.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144768"/>
            <a:ext cx="10424160" cy="3039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6A7684"/>
                </a:solidFill>
                <a:latin typeface="Aptos"/>
              </a:defRPr>
            </a:pPr>
            <a:r>
              <a:rPr sz="1350" b="0" dirty="0">
                <a:solidFill>
                  <a:schemeClr val="tx2">
                    <a:lumMod val="50000"/>
                  </a:schemeClr>
                </a:solidFill>
                <a:latin typeface="Aptos"/>
              </a:rPr>
              <a:t>Exact calendar dates are not specified in the supplied project material</a:t>
            </a:r>
            <a:r>
              <a:rPr sz="1350" b="0" dirty="0">
                <a:solidFill>
                  <a:srgbClr val="4B525A"/>
                </a:solidFill>
                <a:latin typeface="Aptos"/>
              </a:rPr>
              <a:t>.</a:t>
            </a:r>
          </a:p>
        </p:txBody>
      </p:sp>
      <p:pic>
        <p:nvPicPr>
          <p:cNvPr id="10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4380" y="370792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800" b="1" dirty="0">
                <a:solidFill>
                  <a:srgbClr val="232326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>
                <a:solidFill>
                  <a:srgbClr val="BE232D"/>
                </a:solidFill>
                <a:latin typeface="Aptos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923544"/>
            <a:ext cx="10515600" cy="499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2200" b="1">
                <a:solidFill>
                  <a:srgbClr val="142B4C"/>
                </a:solidFill>
                <a:latin typeface="Aptos"/>
              </a:defRPr>
            </a:pPr>
            <a:r>
              <a:rPr sz="26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Predict traffic → Optimize routes → Decide intelligently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3154680" cy="29475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91440" cy="29475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56816"/>
            <a:ext cx="2880360" cy="4683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rgbClr val="232326"/>
                </a:solidFill>
                <a:latin typeface="Aptos"/>
              </a:rPr>
              <a:t>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340864"/>
            <a:ext cx="2880360" cy="1375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STGCN is proposed to forecast near-future traffic conditions for the next 15–30 minutes</a:t>
            </a:r>
            <a:r>
              <a:rPr sz="1520" b="0" dirty="0">
                <a:solidFill>
                  <a:srgbClr val="4B525A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154680" cy="29658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 flipH="1">
            <a:off x="4434840" y="1828800"/>
            <a:ext cx="91440" cy="2965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0872" y="1956816"/>
            <a:ext cx="2880360" cy="4683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rgbClr val="232326"/>
                </a:solidFill>
                <a:latin typeface="Aptos"/>
              </a:rPr>
              <a:t>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340864"/>
            <a:ext cx="2880360" cy="20215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Predicted speeds become segment travel-time costs on an OpenStreetMap road network; A* generates candidate routes.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28800"/>
            <a:ext cx="3154680" cy="29658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flipH="1">
            <a:off x="8028433" y="1828800"/>
            <a:ext cx="109728" cy="29475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1956816"/>
            <a:ext cx="2880360" cy="4683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2B4C"/>
                </a:solidFill>
                <a:latin typeface="Aptos"/>
              </a:defRPr>
            </a:pPr>
            <a:r>
              <a:rPr sz="2400" b="1" dirty="0">
                <a:solidFill>
                  <a:srgbClr val="232326"/>
                </a:solidFill>
                <a:latin typeface="Aptos"/>
              </a:rP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340864"/>
            <a:ext cx="2880360" cy="2344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222A34"/>
                </a:solidFill>
                <a:latin typeface="Aptos"/>
              </a:defRPr>
            </a:pPr>
            <a:r>
              <a:rPr sz="2000" b="0" dirty="0">
                <a:solidFill>
                  <a:srgbClr val="4B525A"/>
                </a:solidFill>
                <a:latin typeface="Aptos"/>
              </a:rPr>
              <a:t>A reroute is recommended only when expected travel-time benefit is meaningful and prediction reliability is acceptable.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532120"/>
            <a:ext cx="10149840" cy="553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222A34"/>
                </a:solidFill>
                <a:latin typeface="Aptos"/>
              </a:defRPr>
            </a:pPr>
            <a:r>
              <a:rPr sz="145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Review-1 establishes the problem, literature basis, proposed architecture, workflow, modules and validation plan. Implementation and measured results remain future work.</a:t>
            </a:r>
          </a:p>
        </p:txBody>
      </p:sp>
      <p:pic>
        <p:nvPicPr>
          <p:cNvPr id="22" name="KL_OFFICIAL_LOGO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65176"/>
            <a:ext cx="9464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600" b="1">
                <a:solidFill>
                  <a:srgbClr val="142B4C"/>
                </a:solidFill>
                <a:latin typeface="Aptos Display"/>
              </a:defRPr>
            </a:pPr>
            <a:r>
              <a:rPr sz="2600" b="1">
                <a:solidFill>
                  <a:srgbClr val="232326"/>
                </a:solidFill>
                <a:latin typeface="Apto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  <a:defRPr sz="1300" b="1">
                <a:solidFill>
                  <a:srgbClr val="6A7684"/>
                </a:solidFill>
                <a:latin typeface="Aptos"/>
              </a:defRPr>
            </a:pPr>
            <a:r>
              <a:rPr sz="1200" b="1" dirty="0">
                <a:solidFill>
                  <a:srgbClr val="BE232D"/>
                </a:solidFill>
                <a:latin typeface="Aptos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56248"/>
            <a:ext cx="10972800" cy="9144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800" b="0">
                <a:solidFill>
                  <a:srgbClr val="6A7684"/>
                </a:solidFill>
                <a:latin typeface="Aptos"/>
              </a:defRPr>
            </a:pPr>
            <a:r>
              <a:rPr sz="850" b="0">
                <a:solidFill>
                  <a:srgbClr val="4B525A"/>
                </a:solidFill>
                <a:latin typeface="Aptos"/>
              </a:rPr>
              <a:t>Capstone Review-1 • Predictive Dynamic Route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5257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40" b="0">
                <a:solidFill>
                  <a:srgbClr val="222A34"/>
                </a:solidFill>
                <a:latin typeface="Aptos"/>
              </a:defRPr>
            </a:pPr>
            <a:r>
              <a:rPr sz="1080" b="0" dirty="0">
                <a:solidFill>
                  <a:srgbClr val="232326"/>
                </a:solidFill>
                <a:latin typeface="Aptos"/>
              </a:rPr>
              <a:t>1. Zhang, Q.; </a:t>
            </a:r>
            <a:r>
              <a:rPr sz="1080" b="0" dirty="0" err="1">
                <a:solidFill>
                  <a:srgbClr val="232326"/>
                </a:solidFill>
                <a:latin typeface="Aptos"/>
              </a:rPr>
              <a:t>Couloigner</a:t>
            </a:r>
            <a:r>
              <a:rPr sz="1080" b="0" dirty="0">
                <a:solidFill>
                  <a:srgbClr val="232326"/>
                </a:solidFill>
                <a:latin typeface="Aptos"/>
              </a:rPr>
              <a:t>, I. (2004). A Framework for Road Change Detection and Map Updating.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80744"/>
            <a:ext cx="5257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720" b="0">
                <a:solidFill>
                  <a:srgbClr val="2A5C96"/>
                </a:solidFill>
                <a:latin typeface="Aptos"/>
              </a:defRPr>
            </a:pPr>
            <a:r>
              <a:rPr sz="919" b="0">
                <a:solidFill>
                  <a:srgbClr val="4B525A"/>
                </a:solidFill>
                <a:latin typeface="Aptos"/>
                <a:hlinkClick r:id="rId2"/>
              </a:rPr>
              <a:t>https://www.isprs.org/proceedings/xxxv/congress/comm2/papers/223.pdf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257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40" b="0">
                <a:solidFill>
                  <a:srgbClr val="222A34"/>
                </a:solidFill>
                <a:latin typeface="Aptos"/>
              </a:defRPr>
            </a:pPr>
            <a:r>
              <a:rPr sz="1080" b="0" dirty="0">
                <a:solidFill>
                  <a:srgbClr val="232326"/>
                </a:solidFill>
                <a:latin typeface="Aptos"/>
              </a:rPr>
              <a:t>2. Sui, H.; Zhou, N.; Zhou, M.; Ge, L. (2023). Vector Road Map Updating from High-Resolution Remote-Sensing Images with the Guidance of Road Intersection Change Detection and Directed Road Tracing.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09272"/>
            <a:ext cx="5257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720" b="0">
                <a:solidFill>
                  <a:srgbClr val="2A5C96"/>
                </a:solidFill>
                <a:latin typeface="Aptos"/>
              </a:defRPr>
            </a:pPr>
            <a:r>
              <a:rPr sz="919" b="0">
                <a:solidFill>
                  <a:srgbClr val="4B525A"/>
                </a:solidFill>
                <a:latin typeface="Aptos"/>
                <a:hlinkClick r:id="rId3"/>
              </a:rPr>
              <a:t>https://doi.org/10.3390/rs15071840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5257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4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232326"/>
                </a:solidFill>
                <a:latin typeface="Aptos"/>
              </a:rPr>
              <a:t>3. Xu, Y.; Xie, Z.; Feng, Y.; Chen, Z. (2018). Road Extraction from High-Resolution Remote Sensing Imagery Using Deep Learning.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26664"/>
            <a:ext cx="5257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720" b="0">
                <a:solidFill>
                  <a:srgbClr val="2A5C96"/>
                </a:solidFill>
                <a:latin typeface="Aptos"/>
              </a:defRPr>
            </a:pPr>
            <a:r>
              <a:rPr sz="919" b="0">
                <a:solidFill>
                  <a:srgbClr val="4B525A"/>
                </a:solidFill>
                <a:latin typeface="Aptos"/>
                <a:hlinkClick r:id="rId4"/>
              </a:rPr>
              <a:t>https://doi.org/10.3390/rs10091461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29000"/>
            <a:ext cx="5257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4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232326"/>
                </a:solidFill>
                <a:latin typeface="Aptos"/>
              </a:rPr>
              <a:t>4. Van Etten, A. (2020). City-Scale Road Extraction from Satellite Imagery v2: Road Speeds and Travel Times.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9624"/>
            <a:ext cx="5257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720" b="0">
                <a:solidFill>
                  <a:srgbClr val="2A5C96"/>
                </a:solidFill>
                <a:latin typeface="Aptos"/>
              </a:defRPr>
            </a:pPr>
            <a:r>
              <a:rPr sz="919" b="0">
                <a:solidFill>
                  <a:srgbClr val="4B525A"/>
                </a:solidFill>
                <a:latin typeface="Aptos"/>
                <a:hlinkClick r:id="rId5"/>
              </a:rPr>
              <a:t>https://doi.org/10.1109/WACV45572.2020.9093593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5257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4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232326"/>
                </a:solidFill>
                <a:latin typeface="Aptos"/>
              </a:rPr>
              <a:t>5. Batra, A.; Singh, S.; Pang, G.; Basu, S.; Jawahar, C.V.; Paluri, M. (2019). Improved Road Connectivity by Joint Learning of Orientation and Segmentation.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72584"/>
            <a:ext cx="5257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720" b="0">
                <a:solidFill>
                  <a:srgbClr val="2A5C96"/>
                </a:solidFill>
                <a:latin typeface="Aptos"/>
              </a:defRPr>
            </a:pPr>
            <a:r>
              <a:rPr sz="919" b="0">
                <a:solidFill>
                  <a:srgbClr val="4B525A"/>
                </a:solidFill>
                <a:latin typeface="Aptos"/>
                <a:hlinkClick r:id="rId6"/>
              </a:rPr>
              <a:t>https://doi.org/10.1109/CVPR.2019.01063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74920"/>
            <a:ext cx="5257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4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232326"/>
                </a:solidFill>
                <a:latin typeface="Aptos"/>
              </a:rPr>
              <a:t>6. Zhu, Q.; Zhang, Y.; Wang, L.; et al. (2021). A Global Context-aware and Batch-independent Network for road extraction from VHR satellite imagery.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495544"/>
            <a:ext cx="5257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720" b="0">
                <a:solidFill>
                  <a:srgbClr val="2A5C96"/>
                </a:solidFill>
                <a:latin typeface="Aptos"/>
              </a:defRPr>
            </a:pPr>
            <a:r>
              <a:rPr sz="919" b="0">
                <a:solidFill>
                  <a:srgbClr val="4B525A"/>
                </a:solidFill>
                <a:latin typeface="Aptos"/>
                <a:hlinkClick r:id="rId7"/>
              </a:rPr>
              <a:t>https://doi.org/10.1016/j.isprsjprs.2021.03.016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960120"/>
            <a:ext cx="5257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4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232326"/>
                </a:solidFill>
                <a:latin typeface="Aptos"/>
              </a:rPr>
              <a:t>7. Bastani, F.; Madden, S. (2021). Beyond Road Extraction: A Dataset for Map Update using Aerial Images.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380744"/>
            <a:ext cx="5257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720" b="0">
                <a:solidFill>
                  <a:srgbClr val="2A5C96"/>
                </a:solidFill>
                <a:latin typeface="Aptos"/>
              </a:defRPr>
            </a:pPr>
            <a:r>
              <a:rPr sz="919" b="0">
                <a:solidFill>
                  <a:srgbClr val="4B525A"/>
                </a:solidFill>
                <a:latin typeface="Aptos"/>
                <a:hlinkClick r:id="rId8"/>
              </a:rPr>
              <a:t>https://doi.org/10.1109/ICCV48922.2021.01169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783080"/>
            <a:ext cx="5257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4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232326"/>
                </a:solidFill>
                <a:latin typeface="Aptos"/>
              </a:rPr>
              <a:t>8. Duan, L.; Mapurisa, W.; Leras, M.; Lotter, L.; Tarabalka, Y. (2024). BRIGHTEARTH ROADS: Towards Fully Automatic Road Network Extraction from Satellite Imagery.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203704"/>
            <a:ext cx="5257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720" b="0">
                <a:solidFill>
                  <a:srgbClr val="2A5C96"/>
                </a:solidFill>
                <a:latin typeface="Aptos"/>
              </a:defRPr>
            </a:pPr>
            <a:r>
              <a:rPr sz="919" b="0">
                <a:solidFill>
                  <a:srgbClr val="4B525A"/>
                </a:solidFill>
                <a:latin typeface="Aptos"/>
                <a:hlinkClick r:id="rId9"/>
              </a:rPr>
              <a:t>https://arxiv.org/abs/2406.14941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606040"/>
            <a:ext cx="5257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4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232326"/>
                </a:solidFill>
                <a:latin typeface="Aptos"/>
              </a:rPr>
              <a:t>9. Belli, D.; Kipf, T. (2019). Image-Conditioned Graph Generation for Road Network Extraction.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026664"/>
            <a:ext cx="5257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720" b="0">
                <a:solidFill>
                  <a:srgbClr val="2A5C96"/>
                </a:solidFill>
                <a:latin typeface="Aptos"/>
              </a:defRPr>
            </a:pPr>
            <a:r>
              <a:rPr sz="919" b="0">
                <a:solidFill>
                  <a:srgbClr val="4B525A"/>
                </a:solidFill>
                <a:latin typeface="Aptos"/>
                <a:hlinkClick r:id="rId10"/>
              </a:rPr>
              <a:t>https://arxiv.org/abs/1910.14388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429000"/>
            <a:ext cx="5257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40" b="0">
                <a:solidFill>
                  <a:srgbClr val="222A34"/>
                </a:solidFill>
                <a:latin typeface="Aptos"/>
              </a:defRPr>
            </a:pPr>
            <a:r>
              <a:rPr sz="1080" b="0">
                <a:solidFill>
                  <a:srgbClr val="232326"/>
                </a:solidFill>
                <a:latin typeface="Aptos"/>
              </a:rPr>
              <a:t>10. Wegner, J.D.; Montoya-Zegarra, J.A.; Schindler, K. (2013). A Higher-order CRF Model for Road Network Extraction.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849624"/>
            <a:ext cx="5257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720" b="0">
                <a:solidFill>
                  <a:srgbClr val="2A5C96"/>
                </a:solidFill>
                <a:latin typeface="Aptos"/>
              </a:defRPr>
            </a:pPr>
            <a:r>
              <a:rPr sz="919" b="0">
                <a:solidFill>
                  <a:srgbClr val="4B525A"/>
                </a:solidFill>
                <a:latin typeface="Aptos"/>
                <a:hlinkClick r:id="rId11"/>
              </a:rPr>
              <a:t>https://doi.org/10.1109/CVPR.2013.222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251960"/>
            <a:ext cx="5257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940" b="0">
                <a:solidFill>
                  <a:srgbClr val="222A34"/>
                </a:solidFill>
                <a:latin typeface="Aptos"/>
              </a:defRPr>
            </a:pPr>
            <a:r>
              <a:rPr sz="950" b="0" dirty="0">
                <a:solidFill>
                  <a:srgbClr val="4B525A"/>
                </a:solidFill>
                <a:latin typeface="Aptos"/>
              </a:rPr>
              <a:t>Project source: supplied capstone PPT + abstract. METR-LA/public traffic data and OpenStreetMap are specified in the project source.</a:t>
            </a:r>
          </a:p>
        </p:txBody>
      </p:sp>
      <p:pic>
        <p:nvPicPr>
          <p:cNvPr id="29" name="KL_OFFICIAL_LOGO" descr="KL_log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592" y="164592"/>
            <a:ext cx="658368" cy="26629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368" y="1219201"/>
            <a:ext cx="3706761" cy="18356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3129" y="3448655"/>
            <a:ext cx="7165744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600" b="1" dirty="0">
                <a:solidFill>
                  <a:schemeClr val="tx2">
                    <a:lumMod val="50000"/>
                  </a:schemeClr>
                </a:solidFill>
                <a:latin typeface="Berlin Sans FB Demi" panose="020E0802020502020306" pitchFamily="34" charset="0"/>
              </a:rPr>
              <a:t>THANK</a:t>
            </a:r>
            <a:r>
              <a:rPr sz="9600" b="1" dirty="0">
                <a:solidFill>
                  <a:srgbClr val="2D2D2D"/>
                </a:solidFill>
                <a:latin typeface="Berlin Sans FB Demi" panose="020E0802020502020306" pitchFamily="34" charset="0"/>
              </a:rPr>
              <a:t> 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AC9DEB-9D7A-83FA-5653-93D3665FEA79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2333</Words>
  <Application>Microsoft Office PowerPoint</Application>
  <PresentationFormat>Widescreen</PresentationFormat>
  <Paragraphs>310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YERRA PRANAV</dc:creator>
  <cp:keywords/>
  <dc:description>generated using python-pptx</dc:description>
  <cp:lastModifiedBy>YERRA PRANAV</cp:lastModifiedBy>
  <cp:revision>10</cp:revision>
  <dcterms:created xsi:type="dcterms:W3CDTF">2013-01-27T09:14:16Z</dcterms:created>
  <dcterms:modified xsi:type="dcterms:W3CDTF">2026-09-17T12:51:59Z</dcterms:modified>
  <cp:category/>
</cp:coreProperties>
</file>