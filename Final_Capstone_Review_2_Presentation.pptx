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528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383280" y="0"/>
            <a:ext cx="8805672" cy="6858000"/>
          </a:xfrm>
          <a:prstGeom prst="rect">
            <a:avLst/>
          </a:prstGeom>
          <a:solidFill>
            <a:srgbClr val="E2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"/>
            <a:ext cx="1051560" cy="425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" y="658368"/>
            <a:ext cx="23317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777240"/>
            <a:ext cx="7498079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32326"/>
                </a:solidFill>
                <a:latin typeface="Aptos"/>
              </a:rPr>
              <a:t>Predictive Dynamic Route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417320"/>
            <a:ext cx="846734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232326"/>
                </a:solidFill>
                <a:latin typeface="Aptos"/>
              </a:rPr>
              <a:t>Using Traffic Forecasting and Intelligent Route Decision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514600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BE2D37"/>
                </a:solidFill>
                <a:latin typeface="Aptos"/>
              </a:rPr>
              <a:t>REVIEW –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273552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TEAM: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566160"/>
            <a:ext cx="256032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2300030761 - Pranav Y
2300031235 - K Prasanth
2300032492 - M M N S Lalitha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709160"/>
            <a:ext cx="25603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Mentor:
Dr. M. Satyanarayana
Emp ID: 10072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47472"/>
            <a:ext cx="62179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F3756"/>
                </a:solidFill>
                <a:latin typeface="Aptos"/>
              </a:rPr>
              <a:t>Predict → Validate → Compare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788920"/>
            <a:ext cx="1627632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995928" y="2907792"/>
            <a:ext cx="347472" cy="347472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95928" y="2962656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88036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32326"/>
                </a:solidFill>
                <a:latin typeface="Aptos"/>
              </a:rPr>
              <a:t>Objective-1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2504" y="3337560"/>
            <a:ext cx="13258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B525A"/>
                </a:solidFill>
                <a:latin typeface="Aptos"/>
              </a:rPr>
              <a:t>CPSTN-Draft4
traffic forecasting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2788920"/>
            <a:ext cx="1627632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24728" y="2907792"/>
            <a:ext cx="347472" cy="347472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24728" y="2962656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88036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32326"/>
                </a:solidFill>
                <a:latin typeface="Aptos"/>
              </a:rPr>
              <a:t>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1304" y="3337560"/>
            <a:ext cx="13258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B525A"/>
                </a:solidFill>
                <a:latin typeface="Aptos"/>
              </a:rPr>
              <a:t>METR-LA
207 sensors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788920"/>
            <a:ext cx="1627632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653527" y="2907792"/>
            <a:ext cx="347472" cy="347472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53527" y="2962656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288036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32326"/>
                </a:solidFill>
                <a:latin typeface="Aptos"/>
              </a:rP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3337560"/>
            <a:ext cx="13258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B525A"/>
                </a:solidFill>
                <a:latin typeface="Aptos"/>
              </a:rPr>
              <a:t>20% chronological
6,832 windows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2788920"/>
            <a:ext cx="1627632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482328" y="2907792"/>
            <a:ext cx="347472" cy="347472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82328" y="2962656"/>
            <a:ext cx="347472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288036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32326"/>
                </a:solidFill>
                <a:latin typeface="Aptos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18904" y="3337560"/>
            <a:ext cx="13258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4B525A"/>
                </a:solidFill>
                <a:latin typeface="Aptos"/>
              </a:rPr>
              <a:t>Persistence
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029200"/>
            <a:ext cx="7996427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3756"/>
                </a:solidFill>
                <a:latin typeface="Aptos"/>
              </a:rPr>
              <a:t>Review-2 focus: complete Objective-1, validate the implementation, use the defined chronological split, and establish baseline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Review-2 Scope &amp; Readiness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32104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4B525A"/>
                </a:solidFill>
                <a:latin typeface="Aptos"/>
              </a:rPr>
              <a:t>Week 10 • 21–26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8" name="Picture 7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234441"/>
            <a:ext cx="5074920" cy="1673352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39903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4F81BD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371600"/>
            <a:ext cx="3977639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232326"/>
                </a:solidFill>
                <a:latin typeface="Aptos"/>
              </a:rPr>
              <a:t>Complete Objective-1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47088"/>
            <a:ext cx="429768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4B525A"/>
                </a:solidFill>
                <a:latin typeface="Aptos"/>
              </a:rPr>
              <a:t>Short-term traffic forecasting implementation using the CPSTN-Draft4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234440"/>
            <a:ext cx="5074920" cy="1673353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9903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4F81B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371600"/>
            <a:ext cx="3977639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232326"/>
                </a:solidFill>
                <a:latin typeface="Aptos"/>
              </a:rPr>
              <a:t>Unit / Integrity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847088"/>
            <a:ext cx="422452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25A"/>
                </a:solidFill>
                <a:latin typeface="Aptos"/>
              </a:rPr>
              <a:t>Checkpoint, graph, sensor ordering, shapes, finite predictions and test-window consistency.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1"/>
            <a:ext cx="5074920" cy="1673352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63931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4F81B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611880"/>
            <a:ext cx="3977639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232326"/>
                </a:solidFill>
                <a:latin typeface="Aptos"/>
              </a:rPr>
              <a:t>Dataset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087368"/>
            <a:ext cx="416052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25A"/>
                </a:solidFill>
                <a:latin typeface="Aptos"/>
              </a:rPr>
              <a:t>70% train / 10% validation / 20% chronological test split; test targets remain inside the test segment.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74720"/>
            <a:ext cx="5074920" cy="1673353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639312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4F81BD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611880"/>
            <a:ext cx="3977639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232326"/>
                </a:solidFill>
                <a:latin typeface="Aptos"/>
              </a:rPr>
              <a:t>Baseline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087368"/>
            <a:ext cx="431596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25A"/>
                </a:solidFill>
                <a:latin typeface="Aptos"/>
              </a:rPr>
              <a:t>MAE, RMSE and MAPE against a persistence baseline.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515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1F3756"/>
                </a:solidFill>
                <a:latin typeface="Aptos"/>
              </a:rPr>
              <a:t>Evidence in this deck: implementation configuration → test integrity → measured results → baseline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Review-1 → Review-2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1188720"/>
            <a:ext cx="3429000" cy="38404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29260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Review-1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292608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Problem, motivation and objectives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Literature basis and research gap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Proposed predictive routing framework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System architecture and validation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429000" cy="38404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29260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Review-2 demonstrates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2926080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Objective-1 implemented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CPSTN-Draft4 trained and checkpointed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Chronological test split executed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Unit / integrity checks encoded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Baseline metrics produced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188720"/>
            <a:ext cx="3429000" cy="38404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C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417320"/>
            <a:ext cx="29260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Still outside this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292608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Travel-time route-cost integration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A* candidate-route generation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Benefit + reliability decision engine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End-to-end rerouting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99381"/>
            <a:ext cx="106527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F3756"/>
                </a:solidFill>
                <a:latin typeface="Aptos"/>
              </a:rPr>
              <a:t>Key transition: the Review-1 proposal is now backed by a measurable forecasting implementation; routing and decision modules remain subsequent integration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Dataset, Preprocessing &amp; Chronological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188720"/>
            <a:ext cx="1920240" cy="114300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DE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335024"/>
            <a:ext cx="17007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F3756"/>
                </a:solidFill>
                <a:latin typeface="Aptos"/>
              </a:rPr>
              <a:t>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786" y="1810512"/>
            <a:ext cx="1526829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METR-LA sensors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188720"/>
            <a:ext cx="1920240" cy="114300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DE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1335024"/>
            <a:ext cx="17007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F3756"/>
                </a:solidFill>
                <a:latin typeface="Aptos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5566" y="1810512"/>
            <a:ext cx="1744067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input steps = 60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188720"/>
            <a:ext cx="1920240" cy="114300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DE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1335024"/>
            <a:ext cx="17007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F3756"/>
                </a:solidFill>
                <a:latin typeface="Aptos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6139" y="1810512"/>
            <a:ext cx="197772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forecast steps = 60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1188720"/>
            <a:ext cx="1920240" cy="114300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DE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22008" y="1335024"/>
            <a:ext cx="17007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F3756"/>
                </a:solidFill>
                <a:latin typeface="Aptos"/>
              </a:rPr>
              <a:t>6,832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1049" y="1810512"/>
            <a:ext cx="120270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test windows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188720"/>
            <a:ext cx="1920240" cy="114300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DE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9407" y="1335024"/>
            <a:ext cx="17007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F3756"/>
                </a:solidFill>
                <a:latin typeface="Aptos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1250" y="1810512"/>
            <a:ext cx="1577099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chronological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65176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Chronological data split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54680"/>
            <a:ext cx="6492240" cy="65836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319272"/>
            <a:ext cx="64922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70% 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59" y="3154680"/>
            <a:ext cx="1005840" cy="658368"/>
          </a:xfrm>
          <a:prstGeom prst="rect">
            <a:avLst/>
          </a:prstGeom>
          <a:solidFill>
            <a:srgbClr val="2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0900" y="3206972"/>
            <a:ext cx="1034899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/>
              </a:rPr>
              <a:t>10%</a:t>
            </a:r>
          </a:p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154680"/>
            <a:ext cx="1920240" cy="658368"/>
          </a:xfrm>
          <a:prstGeom prst="rect">
            <a:avLst/>
          </a:prstGeom>
          <a:solidFill>
            <a:srgbClr val="BE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3319272"/>
            <a:ext cx="19202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20%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160520"/>
            <a:ext cx="5166360" cy="1545336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9160" y="420624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Preprocessing consistency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160" y="4526280"/>
            <a:ext cx="486460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0 values treated as missing</a:t>
            </a:r>
          </a:p>
          <a:p>
            <a:pPr>
              <a:spcAft>
                <a:spcPts val="300"/>
              </a:spcAft>
              <a:defRPr sz="12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Interpolation followed by</a:t>
            </a:r>
            <a:r>
              <a:rPr lang="en-US" sz="1600" dirty="0"/>
              <a:t> </a:t>
            </a:r>
            <a:r>
              <a:rPr sz="1600" dirty="0"/>
              <a:t>forward/back fill</a:t>
            </a:r>
          </a:p>
          <a:p>
            <a:pPr>
              <a:spcAft>
                <a:spcPts val="300"/>
              </a:spcAft>
              <a:defRPr sz="12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Scaler fitted on training period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160519"/>
            <a:ext cx="5166360" cy="1548247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03620" y="4206240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Graph / window alignment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7" y="4453127"/>
            <a:ext cx="4443984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Sensor IDs aligned to the checkpoint graph</a:t>
            </a:r>
          </a:p>
          <a:p>
            <a:pPr>
              <a:spcAft>
                <a:spcPts val="200"/>
              </a:spcAft>
              <a:defRPr sz="12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First test target starts after validation + input history</a:t>
            </a:r>
          </a:p>
          <a:p>
            <a:pPr>
              <a:spcAft>
                <a:spcPts val="200"/>
              </a:spcAft>
              <a:defRPr sz="12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Target windows remain fully inside 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Objective-1: Short-Term Traffic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188720"/>
            <a:ext cx="4800600" cy="45262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4F81BD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453128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32326"/>
                </a:solidFill>
                <a:latin typeface="Aptos"/>
              </a:rPr>
              <a:t>Forecast future traffic conditions from recent graph-structured traffic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A8C8C"/>
                </a:solidFill>
                <a:latin typeface="Aptos"/>
              </a:rP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406908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CPSTN-Draft4 </a:t>
            </a:r>
            <a:r>
              <a:rPr sz="1600" dirty="0" err="1"/>
              <a:t>spatio</a:t>
            </a:r>
            <a:r>
              <a:rPr sz="1600" dirty="0"/>
              <a:t>-temporal graph model</a:t>
            </a:r>
          </a:p>
          <a:p>
            <a:pPr>
              <a:spcAft>
                <a:spcPts val="6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3 input channels: speed + time-of-day features</a:t>
            </a:r>
          </a:p>
          <a:p>
            <a:pPr>
              <a:spcAft>
                <a:spcPts val="6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32 hidden channels; dropout 0.10</a:t>
            </a:r>
          </a:p>
          <a:p>
            <a:pPr>
              <a:spcAft>
                <a:spcPts val="6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12-step history → 12-step forecast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188720"/>
            <a:ext cx="5532120" cy="45262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1481328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379669"/>
                </a:solidFill>
                <a:latin typeface="Aptos"/>
              </a:rPr>
              <a:t>Output delivered for Review-2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057400"/>
            <a:ext cx="21488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2203704"/>
            <a:ext cx="19293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F3756"/>
                </a:solidFill>
                <a:latin typeface="Aptos"/>
              </a:rPr>
              <a:t>3.268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0558" y="2679192"/>
            <a:ext cx="877804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Test MAE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057400"/>
            <a:ext cx="21488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0767" y="2203704"/>
            <a:ext cx="19293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F3756"/>
                </a:solidFill>
                <a:latin typeface="Aptos"/>
              </a:rPr>
              <a:t>6.442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4459" y="2679192"/>
            <a:ext cx="98200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Test RMSE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520440"/>
            <a:ext cx="21488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87768" y="3666744"/>
            <a:ext cx="1929384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>
                <a:solidFill>
                  <a:srgbClr val="1F3756"/>
                </a:solidFill>
                <a:latin typeface="Aptos"/>
              </a:rPr>
              <a:t>9.184%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1460" y="4142232"/>
            <a:ext cx="98200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Test MAPE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3016" y="4956048"/>
            <a:ext cx="494690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The supplied checkpoint reached its best validation loss of 0.192383 at epoch 24.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CPSTN-Draft4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15386" y="960120"/>
            <a:ext cx="823930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 dirty="0">
                <a:solidFill>
                  <a:srgbClr val="4B525A"/>
                </a:solidFill>
                <a:latin typeface="Aptos"/>
              </a:rPr>
              <a:t>Implementation architecture used by the supplied Training-Draft4 notebook and checkpoint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463040"/>
            <a:ext cx="9966960" cy="62179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609344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4F81BD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581912"/>
            <a:ext cx="156934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32326"/>
                </a:solidFill>
                <a:latin typeface="Aptos"/>
              </a:rPr>
              <a:t>[B, 12, 207,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81912"/>
            <a:ext cx="275267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 dirty="0">
                <a:solidFill>
                  <a:srgbClr val="4B525A"/>
                </a:solidFill>
                <a:latin typeface="Aptos"/>
              </a:rPr>
              <a:t>Speed + sin(time) + cos(time)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60720" y="2121408"/>
            <a:ext cx="411480" cy="201168"/>
          </a:xfrm>
          <a:prstGeom prst="downArrow">
            <a:avLst/>
          </a:prstGeom>
          <a:solidFill>
            <a:srgbClr val="4B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2240280"/>
            <a:ext cx="9966960" cy="62179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386584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A8C8C"/>
                </a:solidFill>
                <a:latin typeface="Aptos"/>
              </a:rPr>
              <a:t>INPUT PROJECTION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359152"/>
            <a:ext cx="785793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32326"/>
                </a:solidFill>
                <a:latin typeface="Aptos"/>
              </a:rPr>
              <a:t>3 →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59152"/>
            <a:ext cx="1603516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 dirty="0">
                <a:solidFill>
                  <a:srgbClr val="4B525A"/>
                </a:solidFill>
                <a:latin typeface="Aptos"/>
              </a:rPr>
              <a:t>1×1 convolution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760720" y="2898648"/>
            <a:ext cx="411480" cy="201168"/>
          </a:xfrm>
          <a:prstGeom prst="downArrow">
            <a:avLst/>
          </a:prstGeom>
          <a:solidFill>
            <a:srgbClr val="4B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0120" y="3017520"/>
            <a:ext cx="9966960" cy="62179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163824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F81BD"/>
                </a:solidFill>
                <a:latin typeface="Aptos"/>
              </a:rPr>
              <a:t>BLOCK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36392"/>
            <a:ext cx="270061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Temporal gate + graph conv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36392"/>
            <a:ext cx="1154290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 dirty="0">
                <a:solidFill>
                  <a:srgbClr val="4B525A"/>
                </a:solidFill>
                <a:latin typeface="Aptos"/>
              </a:rPr>
              <a:t>dilation = 1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760720" y="3675888"/>
            <a:ext cx="411480" cy="201168"/>
          </a:xfrm>
          <a:prstGeom prst="downArrow">
            <a:avLst/>
          </a:prstGeom>
          <a:solidFill>
            <a:srgbClr val="4B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0120" y="3794760"/>
            <a:ext cx="9966960" cy="62179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3941064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A8C8C"/>
                </a:solidFill>
                <a:latin typeface="Aptos"/>
              </a:rPr>
              <a:t>BLOCK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913632"/>
            <a:ext cx="270061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Temporal gate + graph conv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13632"/>
            <a:ext cx="1154290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 dirty="0">
                <a:solidFill>
                  <a:srgbClr val="4B525A"/>
                </a:solidFill>
                <a:latin typeface="Aptos"/>
              </a:rPr>
              <a:t>dilation = 2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760720" y="4453128"/>
            <a:ext cx="411480" cy="201168"/>
          </a:xfrm>
          <a:prstGeom prst="downArrow">
            <a:avLst/>
          </a:prstGeom>
          <a:solidFill>
            <a:srgbClr val="4B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0120" y="4572000"/>
            <a:ext cx="9966960" cy="62179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4718304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4F81BD"/>
                </a:solidFill>
                <a:latin typeface="Aptos"/>
              </a:rPr>
              <a:t>BLOCK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690872"/>
            <a:ext cx="270061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Temporal gate + graph conv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690872"/>
            <a:ext cx="1154290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 dirty="0">
                <a:solidFill>
                  <a:srgbClr val="4B525A"/>
                </a:solidFill>
                <a:latin typeface="Aptos"/>
              </a:rPr>
              <a:t>dilation = 4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760720" y="5230368"/>
            <a:ext cx="411480" cy="201168"/>
          </a:xfrm>
          <a:prstGeom prst="downArrow">
            <a:avLst/>
          </a:prstGeom>
          <a:solidFill>
            <a:srgbClr val="4B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0120" y="5349240"/>
            <a:ext cx="9966960" cy="62179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5495544"/>
            <a:ext cx="19202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79669"/>
                </a:solidFill>
                <a:latin typeface="Aptos"/>
              </a:rPr>
              <a:t>HEAD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5468112"/>
            <a:ext cx="909223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b="1" dirty="0">
                <a:solidFill>
                  <a:srgbClr val="232326"/>
                </a:solidFill>
                <a:latin typeface="Aptos"/>
              </a:rPr>
              <a:t>32 →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468112"/>
            <a:ext cx="2090380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 dirty="0">
                <a:solidFill>
                  <a:srgbClr val="4B525A"/>
                </a:solidFill>
                <a:latin typeface="Aptos"/>
              </a:rPr>
              <a:t>12 future speed steps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459" y="6144768"/>
            <a:ext cx="1184260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1F3756"/>
                </a:solidFill>
                <a:latin typeface="Aptos"/>
              </a:rPr>
              <a:t>Graph propagation uses the normalized 207×207 road-sensor adjacency; the checkpoint preserves sensor ordering and normalization statistics.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Training Configuration &amp;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143000"/>
            <a:ext cx="5074920" cy="82296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252728"/>
            <a:ext cx="922945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5706" y="1234440"/>
            <a:ext cx="101053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METR-LA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412" y="1234440"/>
            <a:ext cx="990977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207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252728"/>
            <a:ext cx="1749646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History / Horizon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5169" y="1234440"/>
            <a:ext cx="82747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12 →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7039" y="1234440"/>
            <a:ext cx="138852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5-min sampling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194560"/>
            <a:ext cx="5074920" cy="82296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304288"/>
            <a:ext cx="1790170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Hidden / Dropout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2133" y="2286000"/>
            <a:ext cx="95410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32 / 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7815" y="2286000"/>
            <a:ext cx="141417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compact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194560"/>
            <a:ext cx="5074920" cy="82296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304288"/>
            <a:ext cx="1103315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2195" y="2286000"/>
            <a:ext cx="920445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 err="1">
                <a:solidFill>
                  <a:srgbClr val="1F3756"/>
                </a:solidFill>
                <a:latin typeface="Aptos"/>
              </a:rPr>
              <a:t>AdamW</a:t>
            </a:r>
            <a:endParaRPr sz="1600" b="1" dirty="0">
              <a:solidFill>
                <a:srgbClr val="1F375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32262" y="2286000"/>
            <a:ext cx="93807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 dirty="0" err="1">
                <a:solidFill>
                  <a:srgbClr val="4B525A"/>
                </a:solidFill>
                <a:latin typeface="Aptos"/>
              </a:rPr>
              <a:t>lr</a:t>
            </a:r>
            <a:r>
              <a:rPr sz="1600" b="0" dirty="0">
                <a:solidFill>
                  <a:srgbClr val="4B525A"/>
                </a:solidFill>
                <a:latin typeface="Aptos"/>
              </a:rPr>
              <a:t> 2×10⁻³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246120"/>
            <a:ext cx="5074920" cy="82296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355848"/>
            <a:ext cx="62049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4199" y="3337560"/>
            <a:ext cx="113204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SmoothL1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1622" y="3337560"/>
            <a:ext cx="76655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 dirty="0">
                <a:solidFill>
                  <a:srgbClr val="4B525A"/>
                </a:solidFill>
                <a:latin typeface="Aptos"/>
              </a:rPr>
              <a:t>β = 0.5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246120"/>
            <a:ext cx="5074920" cy="82296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3355848"/>
            <a:ext cx="1527278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Regularization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37560"/>
            <a:ext cx="14173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weight decay 1×10⁻⁴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1266" y="3337560"/>
            <a:ext cx="1420069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gradient clip 2.0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297679"/>
            <a:ext cx="5074920" cy="82296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407407"/>
            <a:ext cx="1136273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Batch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561" y="4389119"/>
            <a:ext cx="51167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128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2680" y="4389119"/>
            <a:ext cx="76444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training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297679"/>
            <a:ext cx="5074920" cy="82296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4407407"/>
            <a:ext cx="228011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32326"/>
                </a:solidFill>
                <a:latin typeface="Aptos"/>
              </a:rPr>
              <a:t>Max epochs / patience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5170" y="4407407"/>
            <a:ext cx="8274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25 /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4908" y="4389119"/>
            <a:ext cx="1272784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4B525A"/>
                </a:solidFill>
                <a:latin typeface="Aptos"/>
              </a:rPr>
              <a:t>early stopping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486400"/>
            <a:ext cx="10561320" cy="65836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02149" y="5669280"/>
            <a:ext cx="8420062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 dirty="0">
                <a:solidFill>
                  <a:srgbClr val="379669"/>
                </a:solidFill>
                <a:latin typeface="Aptos"/>
              </a:rPr>
              <a:t>Best checkpoint: epoch 24 • validation loss = 0.192383 • exported for independent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Testing, Unit Checks &amp; Integrity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143000"/>
            <a:ext cx="5212080" cy="3575304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2668423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32326"/>
                </a:solidFill>
                <a:latin typeface="Aptos"/>
              </a:rPr>
              <a:t>Model / graph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4348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Checkpoint keys and configuration match dataset/model</a:t>
            </a:r>
          </a:p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207 sensor count and sensor-ID ordering verified</a:t>
            </a:r>
          </a:p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Normalized graph shape = 207 × 207</a:t>
            </a:r>
          </a:p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Graph symmetry and finite values checked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43000"/>
            <a:ext cx="5212080" cy="3575304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2613857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32326"/>
                </a:solidFill>
                <a:latin typeface="Aptos"/>
              </a:rPr>
              <a:t>Data / output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43484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Input shape = [B, 12, 207, 3]</a:t>
            </a:r>
          </a:p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Prediction/target shape = [6,832, 12, 207]</a:t>
            </a:r>
          </a:p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Prediction and target values finite</a:t>
            </a:r>
          </a:p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Test windows stay within chronological test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5588" y="5185089"/>
            <a:ext cx="951890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F3756"/>
                </a:solidFill>
                <a:latin typeface="Aptos"/>
              </a:rPr>
              <a:t>Testing notebook explicitly reconstructs the same CPSTN-Draft4 architecture and loads the checkpoint's scaler + normalized graph instead of rebuilding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Overall Test Results &amp; Persistence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pic>
        <p:nvPicPr>
          <p:cNvPr id="8" name="Picture 7" descr="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90" y="1335024"/>
            <a:ext cx="6126480" cy="39684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95160" y="1234440"/>
            <a:ext cx="4160520" cy="448056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1481328"/>
            <a:ext cx="3566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Measured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057400"/>
            <a:ext cx="545342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4B525A"/>
                </a:solidFill>
                <a:latin typeface="Aptos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4839" y="2057400"/>
            <a:ext cx="79060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3.2678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2321" y="2057400"/>
            <a:ext cx="78899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 dirty="0">
                <a:solidFill>
                  <a:srgbClr val="4B525A"/>
                </a:solidFill>
                <a:latin typeface="Aptos"/>
              </a:rPr>
              <a:t>3.8168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715768"/>
            <a:ext cx="655949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4B525A"/>
                </a:solidFill>
                <a:latin typeface="Aptos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4839" y="2715768"/>
            <a:ext cx="79060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6.4415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321" y="2715768"/>
            <a:ext cx="78899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 dirty="0">
                <a:solidFill>
                  <a:srgbClr val="4B525A"/>
                </a:solidFill>
                <a:latin typeface="Aptos"/>
              </a:rPr>
              <a:t>7.6670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374135"/>
            <a:ext cx="654346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4B525A"/>
                </a:solidFill>
                <a:latin typeface="Aptos"/>
              </a:rPr>
              <a:t>MAPE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3843" y="3374135"/>
            <a:ext cx="68159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9.184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1327" y="3374135"/>
            <a:ext cx="679993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 dirty="0">
                <a:solidFill>
                  <a:srgbClr val="4B525A"/>
                </a:solidFill>
                <a:latin typeface="Aptos"/>
              </a:rPr>
              <a:t>9.753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374" y="4096512"/>
            <a:ext cx="2871492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 dirty="0">
                <a:solidFill>
                  <a:srgbClr val="232326"/>
                </a:solidFill>
                <a:latin typeface="Aptos"/>
              </a:rPr>
              <a:t>CPSTN-Draft4 vs 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2662" y="4480560"/>
            <a:ext cx="2602637" cy="92333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379669"/>
                </a:solidFill>
                <a:latin typeface="Aptos"/>
              </a:rPr>
              <a:t>MAE reduction: 14.4%
RMSE reduction: 16.0%
MAPE reduction: 5.8%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5608" y="5897880"/>
            <a:ext cx="714458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0" dirty="0">
                <a:solidFill>
                  <a:srgbClr val="4B525A"/>
                </a:solidFill>
                <a:latin typeface="Aptos"/>
              </a:rPr>
              <a:t>Baseline: repeat the last observed speed across the complete forecast horizon.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232326"/>
                </a:solidFill>
                <a:latin typeface="Aptos"/>
              </a:rPr>
              <a:t>Horizon-wise Forecast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pic>
        <p:nvPicPr>
          <p:cNvPr id="8" name="Picture 7" descr="hori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6949440" cy="42500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95260" y="1060587"/>
            <a:ext cx="3429000" cy="536752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263096"/>
            <a:ext cx="2834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 dirty="0">
                <a:solidFill>
                  <a:srgbClr val="232326"/>
                </a:solidFill>
                <a:latin typeface="Aptos"/>
              </a:rPr>
              <a:t>Selected horizons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857456"/>
            <a:ext cx="80021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4B525A"/>
                </a:solidFill>
                <a:latin typeface="Aptos"/>
              </a:rPr>
              <a:t>+5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8913" y="1857456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MAE 2.260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79248"/>
            <a:ext cx="822661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4B525A"/>
                </a:solidFill>
                <a:latin typeface="Aptos"/>
              </a:rPr>
              <a:t>+15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8913" y="2479248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MAE 2.778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101040"/>
            <a:ext cx="909223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4B525A"/>
                </a:solidFill>
                <a:latin typeface="Aptos"/>
              </a:rPr>
              <a:t>+30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8913" y="3101040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MAE 3.280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722832"/>
            <a:ext cx="909223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4B525A"/>
                </a:solidFill>
                <a:latin typeface="Aptos"/>
              </a:rPr>
              <a:t>+60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913" y="3722832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 dirty="0">
                <a:solidFill>
                  <a:srgbClr val="1F3756"/>
                </a:solidFill>
                <a:latin typeface="Aptos"/>
              </a:rPr>
              <a:t>MAE 3.983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36064"/>
            <a:ext cx="83708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32326"/>
                </a:solidFill>
                <a:latin typeface="Aptos"/>
              </a:rPr>
              <a:t>Trend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746960"/>
            <a:ext cx="291768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4B525A"/>
                </a:solidFill>
                <a:latin typeface="Aptos"/>
              </a:rPr>
              <a:t>Error increases with forecast horizon, which is expected for longer-range traffic prediction.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5669280"/>
            <a:ext cx="2203745" cy="5847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2A8C8C"/>
                </a:solidFill>
                <a:latin typeface="Aptos"/>
              </a:rPr>
              <a:t>At +15 min: MAE 2.778
At +30 min: MAE 3.280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Representative Test Forecasts Across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4B525A"/>
                </a:solidFill>
                <a:latin typeface="Aptos"/>
              </a:rPr>
              <a:t>Sample 100 • checkpoint-aligned METR-LA sensor outputs • True vs Predicted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11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234440"/>
            <a:ext cx="546811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53912" y="1234440"/>
            <a:ext cx="546811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44168"/>
            <a:ext cx="5285232" cy="1795717"/>
          </a:xfrm>
          <a:prstGeom prst="rect">
            <a:avLst/>
          </a:prstGeom>
        </p:spPr>
      </p:pic>
      <p:pic>
        <p:nvPicPr>
          <p:cNvPr id="10" name="Picture 9" descr="download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344168"/>
            <a:ext cx="5285232" cy="179571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3429000"/>
            <a:ext cx="6858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ownload(2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38728"/>
            <a:ext cx="6675120" cy="226794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54064" y="3345358"/>
            <a:ext cx="4014215" cy="2254875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17536" y="3345358"/>
            <a:ext cx="3520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u="sng" dirty="0">
                <a:solidFill>
                  <a:srgbClr val="232326"/>
                </a:solidFill>
                <a:latin typeface="Aptos"/>
              </a:rPr>
              <a:t>How to read these plots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1544" y="3564103"/>
            <a:ext cx="345643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+5 min: close tracking across sensors.</a:t>
            </a:r>
          </a:p>
          <a:p>
            <a:pPr>
              <a:defRPr sz="112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+30 min: more point-wise deviations.</a:t>
            </a:r>
          </a:p>
          <a:p>
            <a:pPr>
              <a:defRPr sz="112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+60 min: larger long-horizon deviations.</a:t>
            </a:r>
          </a:p>
          <a:p>
            <a:pPr>
              <a:defRPr sz="112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Overall: predicted profile follows the observed pattern.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650992"/>
            <a:ext cx="11055096" cy="548640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5788152"/>
            <a:ext cx="10561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1F3756"/>
                </a:solidFill>
                <a:latin typeface="Aptos"/>
              </a:rPr>
              <a:t>Takeaway: predictions follow the observed traffic profile, with larger deviations at longer horizons.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Sensor-Level Error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143000"/>
            <a:ext cx="5303520" cy="45262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Worst 5 sensors by 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4B525A"/>
                </a:solidFill>
                <a:latin typeface="Aptos"/>
              </a:rPr>
              <a:t>717462.0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9513" y="2011680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BE2D37"/>
                </a:solidFill>
                <a:latin typeface="Aptos"/>
              </a:rPr>
              <a:t>MAE 6.842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2396" y="2011680"/>
            <a:ext cx="134684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12.436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 dirty="0">
                <a:solidFill>
                  <a:srgbClr val="4B525A"/>
                </a:solidFill>
                <a:latin typeface="Aptos"/>
              </a:rPr>
              <a:t>773939.0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9513" y="2578608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BE2D37"/>
                </a:solidFill>
                <a:latin typeface="Aptos"/>
              </a:rPr>
              <a:t>MAE 6.722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2396" y="2578608"/>
            <a:ext cx="134684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12.495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45536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4B525A"/>
                </a:solidFill>
                <a:latin typeface="Aptos"/>
              </a:rPr>
              <a:t>718045.0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9513" y="3145536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BE2D37"/>
                </a:solidFill>
                <a:latin typeface="Aptos"/>
              </a:rPr>
              <a:t>MAE 6.613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2396" y="3145536"/>
            <a:ext cx="134684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11.500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12464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4B525A"/>
                </a:solidFill>
                <a:latin typeface="Aptos"/>
              </a:rPr>
              <a:t>717466.0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9513" y="3712464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BE2D37"/>
                </a:solidFill>
                <a:latin typeface="Aptos"/>
              </a:rPr>
              <a:t>MAE 6.457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2396" y="3712464"/>
            <a:ext cx="134684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11.700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79392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4B525A"/>
                </a:solidFill>
                <a:latin typeface="Aptos"/>
              </a:rPr>
              <a:t>717468.0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9513" y="4279392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BE2D37"/>
                </a:solidFill>
                <a:latin typeface="Aptos"/>
              </a:rPr>
              <a:t>MAE 6.220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2396" y="4279392"/>
            <a:ext cx="134684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12.134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43000"/>
            <a:ext cx="5303520" cy="45262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41732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Best 5 sensors by 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011680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4B525A"/>
                </a:solidFill>
                <a:latin typeface="Aptos"/>
              </a:rPr>
              <a:t>767495.0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7352" y="2011680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379669"/>
                </a:solidFill>
                <a:latin typeface="Aptos"/>
              </a:rPr>
              <a:t>MAE 1.031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9241" y="2011680"/>
            <a:ext cx="123783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1.952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578608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4B525A"/>
                </a:solidFill>
                <a:latin typeface="Aptos"/>
              </a:rPr>
              <a:t>718076.0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7352" y="2578608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379669"/>
                </a:solidFill>
                <a:latin typeface="Aptos"/>
              </a:rPr>
              <a:t>MAE 1.201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9241" y="2578608"/>
            <a:ext cx="123783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2.116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145536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4B525A"/>
                </a:solidFill>
                <a:latin typeface="Aptos"/>
              </a:rPr>
              <a:t>767455.0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7352" y="3145536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379669"/>
                </a:solidFill>
                <a:latin typeface="Aptos"/>
              </a:rPr>
              <a:t>MAE 1.223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9241" y="3145536"/>
            <a:ext cx="123783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2.135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712464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4B525A"/>
                </a:solidFill>
                <a:latin typeface="Aptos"/>
              </a:rPr>
              <a:t>767585.0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7352" y="3712464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379669"/>
                </a:solidFill>
                <a:latin typeface="Aptos"/>
              </a:rPr>
              <a:t>MAE 1.228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9241" y="3712464"/>
            <a:ext cx="123783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2.177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279392"/>
            <a:ext cx="100860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4B525A"/>
                </a:solidFill>
                <a:latin typeface="Aptos"/>
              </a:rPr>
              <a:t>717595.0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7352" y="4279392"/>
            <a:ext cx="11352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379669"/>
                </a:solidFill>
                <a:latin typeface="Aptos"/>
              </a:rPr>
              <a:t>MAE 1.266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9241" y="4279392"/>
            <a:ext cx="123783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0">
                <a:solidFill>
                  <a:srgbClr val="4B525A"/>
                </a:solidFill>
                <a:latin typeface="Aptos"/>
              </a:rPr>
              <a:t>RMSE 2.976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0310" y="5879592"/>
            <a:ext cx="7103741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 dirty="0">
                <a:solidFill>
                  <a:srgbClr val="1F3756"/>
                </a:solidFill>
                <a:latin typeface="Aptos"/>
              </a:rPr>
              <a:t>Across all 207 sensors: mean sensor MAE = 3.268; min = 1.031; max = 6.842.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232326"/>
                </a:solidFill>
                <a:latin typeface="Aptos"/>
              </a:rPr>
              <a:t>Validation Observations &amp; Remaining Refinements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7" name="Picture 6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9600" y="1417320"/>
            <a:ext cx="5257800" cy="4288536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3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3920" y="169164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Evidence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" y="2194560"/>
            <a:ext cx="452628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Objective-1 forecasting pipeline is executable on METR-LA.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Checkpoint is independently testable with the exported metadata.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CPSTN-Draft4 improves on the persistence baseline on MAE, RMSE and MAPE.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Horizon-wise metrics quantify degradation from +5 to +60 minutes.</a:t>
            </a:r>
          </a:p>
          <a:p>
            <a:pPr>
              <a:spcAft>
                <a:spcPts val="7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Automated integrity assertions are encoded in the testing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1417320"/>
            <a:ext cx="5257800" cy="4288536"/>
          </a:xfrm>
          <a:prstGeom prst="roundRect">
            <a:avLst/>
          </a:prstGeom>
          <a:solidFill>
            <a:srgbClr val="DEE8F3"/>
          </a:solidFill>
          <a:ln w="15240">
            <a:solidFill>
              <a:srgbClr val="DC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0320" y="169164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2326"/>
                </a:solidFill>
                <a:latin typeface="Aptos"/>
              </a:rPr>
              <a:t>Refinement still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320" y="2194560"/>
            <a:ext cx="452628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The exported prediction tensor contains some negative predicted speeds (minimum ≈ −8.43), so physical output constraints/post-processing should be considered.</a:t>
            </a:r>
          </a:p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Route travel-time conversion and A* integration are not established by these forecasting tests.</a:t>
            </a:r>
          </a:p>
          <a:p>
            <a:pPr>
              <a:spcAft>
                <a:spcPts val="900"/>
              </a:spcAft>
              <a:defRPr sz="1400">
                <a:solidFill>
                  <a:srgbClr val="4B525A"/>
                </a:solidFill>
                <a:latin typeface="Aptos"/>
              </a:defRPr>
            </a:pPr>
            <a:r>
              <a:rPr sz="1600" dirty="0"/>
              <a:t>• The benefit + reliability rerouting decision layer still requires integrated route-level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232326"/>
                </a:solidFill>
                <a:latin typeface="Aptos"/>
              </a:rPr>
              <a:t>Review-2 Gate / Evidence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274320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BE2D37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47104"/>
            <a:ext cx="1088136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B525A"/>
                </a:solidFill>
                <a:latin typeface="Aptos"/>
              </a:rPr>
              <a:t>Capstone Review-2 • Predictive Dynamic Route Recommendation</a:t>
            </a:r>
          </a:p>
        </p:txBody>
      </p:sp>
      <p:pic>
        <p:nvPicPr>
          <p:cNvPr id="8" name="Picture 7" descr="k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28016"/>
            <a:ext cx="566928" cy="2293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1143000"/>
            <a:ext cx="3154680" cy="6400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344168"/>
            <a:ext cx="300837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Review-2 requirement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1143000"/>
            <a:ext cx="5212080" cy="6400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50791" y="1344168"/>
            <a:ext cx="506577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Evidence in this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1143000"/>
            <a:ext cx="1737360" cy="6400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37192" y="1344168"/>
            <a:ext cx="15910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783080"/>
            <a:ext cx="31546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19" y="1929384"/>
            <a:ext cx="2113848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Complete Objective-1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1783080"/>
            <a:ext cx="52120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79" y="1929384"/>
            <a:ext cx="4885889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CPSTN-Draft4 implementation + METR-LA test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1783080"/>
            <a:ext cx="173736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45622" y="1929384"/>
            <a:ext cx="574196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79669"/>
                </a:solidFill>
                <a:latin typeface="Aptos"/>
              </a:rPr>
              <a:t>MET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606040"/>
            <a:ext cx="31546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31519" y="2752344"/>
            <a:ext cx="119391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Unit testing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2606040"/>
            <a:ext cx="52120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069079" y="2752344"/>
            <a:ext cx="504748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6"/>
                </a:solidFill>
                <a:latin typeface="Aptos"/>
              </a:rPr>
              <a:t>Checkpoint / graph / sensor / shape / finite-value assertions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2606040"/>
            <a:ext cx="173736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10045622" y="2752344"/>
            <a:ext cx="574196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79669"/>
                </a:solidFill>
                <a:latin typeface="Aptos"/>
              </a:rPr>
              <a:t>MET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31546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731519" y="3575304"/>
            <a:ext cx="1303947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Dataset split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7639" y="3429000"/>
            <a:ext cx="52120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4069079" y="3575304"/>
            <a:ext cx="4713278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70 / 10 / 20 chronological split + 6,832 test windows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3429000"/>
            <a:ext cx="173736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10045622" y="3575304"/>
            <a:ext cx="574196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79669"/>
                </a:solidFill>
                <a:latin typeface="Aptos"/>
              </a:rPr>
              <a:t>MET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251960"/>
            <a:ext cx="31546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731519" y="4398264"/>
            <a:ext cx="1662635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Baseline metrics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7639" y="4251960"/>
            <a:ext cx="52120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4069079" y="4398264"/>
            <a:ext cx="4879156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Persistence baseline + MAE/RMSE/MAPE comparison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4251960"/>
            <a:ext cx="173736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10045622" y="4398264"/>
            <a:ext cx="574196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79669"/>
                </a:solidFill>
                <a:latin typeface="Aptos"/>
              </a:rPr>
              <a:t>MET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074920"/>
            <a:ext cx="31546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731519" y="5221224"/>
            <a:ext cx="1711944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Present Review-2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5074920"/>
            <a:ext cx="521208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4069080" y="5221224"/>
            <a:ext cx="504748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6"/>
                </a:solidFill>
                <a:latin typeface="Aptos"/>
              </a:rPr>
              <a:t>Slides consolidate implementation, evidence and measured results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64040" y="5074920"/>
            <a:ext cx="1737360" cy="749808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9923345" y="5221224"/>
            <a:ext cx="818750" cy="3385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379669"/>
                </a:solidFill>
                <a:latin typeface="Aptos"/>
              </a:rPr>
              <a:t>READY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3129" y="3448655"/>
            <a:ext cx="7165744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600" b="1" dirty="0">
                <a:solidFill>
                  <a:schemeClr val="tx2">
                    <a:lumMod val="50000"/>
                  </a:schemeClr>
                </a:solidFill>
                <a:latin typeface="Berlin Sans FB Demi" panose="020E0802020502020306" pitchFamily="34" charset="0"/>
              </a:rPr>
              <a:t>THANK</a:t>
            </a:r>
            <a:r>
              <a:rPr sz="9600" b="1" dirty="0">
                <a:solidFill>
                  <a:srgbClr val="2D2D2D"/>
                </a:solidFill>
                <a:latin typeface="Berlin Sans FB Demi" panose="020E0802020502020306" pitchFamily="34" charset="0"/>
              </a:rPr>
              <a:t>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AC9DEB-9D7A-83FA-5653-93D3665FEA79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1EC37B2F-9582-162D-8940-1ACA7D795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368" y="1219201"/>
            <a:ext cx="3706761" cy="18356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1302</Words>
  <Application>Microsoft Office PowerPoint</Application>
  <PresentationFormat>Widescreen</PresentationFormat>
  <Paragraphs>279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Prasanth Konjeti</cp:lastModifiedBy>
  <cp:revision>3</cp:revision>
  <dcterms:created xsi:type="dcterms:W3CDTF">2013-01-27T09:14:16Z</dcterms:created>
  <dcterms:modified xsi:type="dcterms:W3CDTF">2026-09-20T16:12:42Z</dcterms:modified>
  <cp:category/>
</cp:coreProperties>
</file>